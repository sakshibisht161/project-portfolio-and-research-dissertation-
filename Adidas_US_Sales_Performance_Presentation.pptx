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/>
            </a:pPr>
            <a:r>
              <a:rPr lang="en-US"/>
              <a:t>Monthly Sales (approx. dashboard values)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(M)</c:v>
                </c:pt>
              </c:strCache>
            </c:strRef>
          </c:tx>
          <c:spPr>
            <a:ln w="31750"/>
          </c:spP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9.69</c:v>
                </c:pt>
                <c:pt idx="1">
                  <c:v>8.26</c:v>
                </c:pt>
                <c:pt idx="2">
                  <c:v>7.69</c:v>
                </c:pt>
                <c:pt idx="3">
                  <c:v>9.73</c:v>
                </c:pt>
                <c:pt idx="4">
                  <c:v>10.47</c:v>
                </c:pt>
                <c:pt idx="5">
                  <c:v>9.58</c:v>
                </c:pt>
                <c:pt idx="6">
                  <c:v>12.28</c:v>
                </c:pt>
                <c:pt idx="7">
                  <c:v>11.99</c:v>
                </c:pt>
                <c:pt idx="8">
                  <c:v>10.039999999999999</c:v>
                </c:pt>
                <c:pt idx="9">
                  <c:v>8.5399999999999991</c:v>
                </c:pt>
                <c:pt idx="10">
                  <c:v>9.1999999999999993</c:v>
                </c:pt>
                <c:pt idx="11">
                  <c:v>11.39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5CC-4B22-B60A-167EBC5FF0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Records</c:v>
                </c:pt>
              </c:strCache>
            </c:strRef>
          </c:tx>
          <c:invertIfNegative val="1"/>
          <c:cat>
            <c:strRef>
              <c:f>Sheet1!$A$2:$A$7</c:f>
              <c:strCache>
                <c:ptCount val="6"/>
                <c:pt idx="0">
                  <c:v>Foot Locker</c:v>
                </c:pt>
                <c:pt idx="1">
                  <c:v>West Gear</c:v>
                </c:pt>
                <c:pt idx="2">
                  <c:v>Sports Direct</c:v>
                </c:pt>
                <c:pt idx="3">
                  <c:v>Kohl's</c:v>
                </c:pt>
                <c:pt idx="4">
                  <c:v>Amazon</c:v>
                </c:pt>
                <c:pt idx="5">
                  <c:v>Walmart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2630</c:v>
                </c:pt>
                <c:pt idx="1">
                  <c:v>2372</c:v>
                </c:pt>
                <c:pt idx="2">
                  <c:v>2030</c:v>
                </c:pt>
                <c:pt idx="3">
                  <c:v>1030</c:v>
                </c:pt>
                <c:pt idx="4">
                  <c:v>949</c:v>
                </c:pt>
                <c:pt idx="5">
                  <c:v>626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184-4A5A-8DF3-1A4E6C5A0F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Records</c:v>
                </c:pt>
              </c:strCache>
            </c:strRef>
          </c:tx>
          <c:invertIfNegative val="1"/>
          <c:cat>
            <c:strRef>
              <c:f>Sheet1!$A$2:$A$7</c:f>
              <c:strCache>
                <c:ptCount val="6"/>
                <c:pt idx="0">
                  <c:v>Men's Street
Footwear</c:v>
                </c:pt>
                <c:pt idx="1">
                  <c:v>Men's Athletic
Footwear</c:v>
                </c:pt>
                <c:pt idx="2">
                  <c:v>Women's
Apparel</c:v>
                </c:pt>
                <c:pt idx="3">
                  <c:v>Men's
Apparel</c:v>
                </c:pt>
                <c:pt idx="4">
                  <c:v>Women's Street
Footwear</c:v>
                </c:pt>
                <c:pt idx="5">
                  <c:v>Women's Athletic
Footwear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1610</c:v>
                </c:pt>
                <c:pt idx="1">
                  <c:v>1608</c:v>
                </c:pt>
                <c:pt idx="2">
                  <c:v>1607</c:v>
                </c:pt>
                <c:pt idx="3">
                  <c:v>1605</c:v>
                </c:pt>
                <c:pt idx="4">
                  <c:v>1606</c:v>
                </c:pt>
                <c:pt idx="5">
                  <c:v>1601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A42-45DA-AB68-D02B306444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 Share (%)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West</c:v>
                </c:pt>
                <c:pt idx="1">
                  <c:v>Northeast</c:v>
                </c:pt>
                <c:pt idx="2">
                  <c:v>South</c:v>
                </c:pt>
                <c:pt idx="3">
                  <c:v>Midwest</c:v>
                </c:pt>
                <c:pt idx="4">
                  <c:v>Southeast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30.29</c:v>
                </c:pt>
                <c:pt idx="1">
                  <c:v>20.9</c:v>
                </c:pt>
                <c:pt idx="2">
                  <c:v>17.809999999999999</c:v>
                </c:pt>
                <c:pt idx="3">
                  <c:v>17.12</c:v>
                </c:pt>
                <c:pt idx="4">
                  <c:v>13.88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B41-4B7F-B2C4-853FBBF40A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r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 (%)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In-store</c:v>
                </c:pt>
                <c:pt idx="1">
                  <c:v>Outlet</c:v>
                </c:pt>
                <c:pt idx="2">
                  <c:v>Online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37.47</c:v>
                </c:pt>
                <c:pt idx="1">
                  <c:v>32.81</c:v>
                </c:pt>
                <c:pt idx="2">
                  <c:v>29.72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1F4-4B30-9060-94C88913E0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r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73ECD2-A2CE-4755-8AFD-19737CAC551B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D2CDA1-7F6A-428C-8B11-4C7279A341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0707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D2CDA1-7F6A-428C-8B11-4C7279A3412B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63956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136"/>
            <a:ext cx="12191695" cy="6858000"/>
          </a:xfrm>
          <a:prstGeom prst="rect">
            <a:avLst/>
          </a:prstGeom>
          <a:solidFill>
            <a:srgbClr val="14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7899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dirty="0"/>
              <a:t>ADIDAS US SALES</a:t>
            </a:r>
          </a:p>
          <a:p>
            <a:pPr>
              <a:defRPr sz="4000" b="1">
                <a:solidFill>
                  <a:srgbClr val="FFFFFF"/>
                </a:solidFill>
              </a:defRPr>
            </a:pPr>
            <a:r>
              <a:rPr dirty="0"/>
              <a:t>PERFORMANCE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4612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7DCE4"/>
                </a:solidFill>
              </a:defRPr>
            </a:pPr>
            <a:r>
              <a:rPr dirty="0"/>
              <a:t>Professional Data Analytics &amp; Business Intelligence Presentation</a:t>
            </a:r>
          </a:p>
          <a:p>
            <a:pPr>
              <a:defRPr sz="1300">
                <a:solidFill>
                  <a:srgbClr val="AFB9C6"/>
                </a:solidFill>
              </a:defRPr>
            </a:pPr>
            <a:r>
              <a:rPr dirty="0"/>
              <a:t>EDA • Excel • Power BI • Tableau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Presentation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• Business objective &amp; analytical approach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• Dataset structure and data-quality assessment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• Key performance indicators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• EDA: trends, retailers, products, regions, cities &amp; sales methods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• Dashboard implementation: Excel, Power BI &amp; Tableau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• Business insights and recommendations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65392"/>
            <a:ext cx="11155680" cy="9144"/>
          </a:xfrm>
          <a:prstGeom prst="rect">
            <a:avLst/>
          </a:prstGeom>
          <a:solidFill>
            <a:srgbClr val="DC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0" y="659282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E7681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37948" y="-173737"/>
            <a:ext cx="12191695" cy="70317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-37948" y="-173737"/>
            <a:ext cx="12229643" cy="740665"/>
          </a:xfrm>
          <a:prstGeom prst="rect">
            <a:avLst/>
          </a:prstGeom>
          <a:solidFill>
            <a:srgbClr val="14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Dataset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8236" y="732575"/>
            <a:ext cx="3337560" cy="1143000"/>
          </a:xfrm>
          <a:prstGeom prst="roundRect">
            <a:avLst/>
          </a:prstGeom>
          <a:solidFill>
            <a:srgbClr val="F3F6F9"/>
          </a:solidFill>
          <a:ln>
            <a:solidFill>
              <a:srgbClr val="CDD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525B67"/>
                </a:solidFill>
              </a:defRPr>
            </a:pPr>
            <a:r>
              <a:rPr dirty="0"/>
              <a:t>Records</a:t>
            </a:r>
          </a:p>
          <a:p>
            <a:pPr algn="ctr">
              <a:defRPr sz="2100" b="1">
                <a:solidFill>
                  <a:srgbClr val="141B26"/>
                </a:solidFill>
              </a:defRPr>
            </a:pPr>
            <a:r>
              <a:rPr dirty="0"/>
              <a:t>9,637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1058" y="736092"/>
            <a:ext cx="3337560" cy="1143000"/>
          </a:xfrm>
          <a:prstGeom prst="roundRect">
            <a:avLst/>
          </a:prstGeom>
          <a:solidFill>
            <a:srgbClr val="F3F6F9"/>
          </a:solidFill>
          <a:ln>
            <a:solidFill>
              <a:srgbClr val="CDD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525B67"/>
                </a:solidFill>
              </a:defRPr>
            </a:pPr>
            <a:r>
              <a:t>Columns</a:t>
            </a:r>
          </a:p>
          <a:p>
            <a:pPr algn="ctr">
              <a:defRPr sz="2100" b="1">
                <a:solidFill>
                  <a:srgbClr val="141B26"/>
                </a:solidFill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80" y="718507"/>
            <a:ext cx="3337560" cy="1143000"/>
          </a:xfrm>
          <a:prstGeom prst="roundRect">
            <a:avLst/>
          </a:prstGeom>
          <a:solidFill>
            <a:srgbClr val="F3F6F9"/>
          </a:solidFill>
          <a:ln>
            <a:solidFill>
              <a:srgbClr val="CDD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525B67"/>
                </a:solidFill>
              </a:defRPr>
            </a:pPr>
            <a:r>
              <a:t>Cities</a:t>
            </a:r>
          </a:p>
          <a:p>
            <a:pPr algn="ctr">
              <a:defRPr sz="2100" b="1">
                <a:solidFill>
                  <a:srgbClr val="141B26"/>
                </a:solidFill>
              </a:defRPr>
            </a:pPr>
            <a:r>
              <a:t>52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129497"/>
            <a:ext cx="3337560" cy="1143000"/>
          </a:xfrm>
          <a:prstGeom prst="roundRect">
            <a:avLst/>
          </a:prstGeom>
          <a:solidFill>
            <a:srgbClr val="F3F6F9"/>
          </a:solidFill>
          <a:ln>
            <a:solidFill>
              <a:srgbClr val="CDD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525B67"/>
                </a:solidFill>
              </a:defRPr>
            </a:pPr>
            <a:r>
              <a:t>Retailers</a:t>
            </a:r>
          </a:p>
          <a:p>
            <a:pPr algn="ctr">
              <a:defRPr sz="2100" b="1">
                <a:solidFill>
                  <a:srgbClr val="141B26"/>
                </a:solidFill>
              </a:defRPr>
            </a:pPr>
            <a: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1058" y="2129497"/>
            <a:ext cx="3337560" cy="1143000"/>
          </a:xfrm>
          <a:prstGeom prst="roundRect">
            <a:avLst/>
          </a:prstGeom>
          <a:solidFill>
            <a:srgbClr val="F3F6F9"/>
          </a:solidFill>
          <a:ln>
            <a:solidFill>
              <a:srgbClr val="CDD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525B67"/>
                </a:solidFill>
              </a:defRPr>
            </a:pPr>
            <a:r>
              <a:t>Products</a:t>
            </a:r>
          </a:p>
          <a:p>
            <a:pPr algn="ctr">
              <a:defRPr sz="2100" b="1">
                <a:solidFill>
                  <a:srgbClr val="141B26"/>
                </a:solidFill>
              </a:defRPr>
            </a:pPr>
            <a:r>
              <a:t>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7756" y="2108747"/>
            <a:ext cx="3337560" cy="1143000"/>
          </a:xfrm>
          <a:prstGeom prst="roundRect">
            <a:avLst/>
          </a:prstGeom>
          <a:solidFill>
            <a:srgbClr val="F3F6F9"/>
          </a:solidFill>
          <a:ln>
            <a:solidFill>
              <a:srgbClr val="CDD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525B67"/>
                </a:solidFill>
              </a:defRPr>
            </a:pPr>
            <a:r>
              <a:t>Sales Methods</a:t>
            </a:r>
          </a:p>
          <a:p>
            <a:pPr algn="ctr">
              <a:defRPr sz="2100" b="1">
                <a:solidFill>
                  <a:srgbClr val="141B26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7759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66EB4"/>
                </a:solidFill>
              </a:defRPr>
            </a:pPr>
            <a:r>
              <a:rPr dirty="0"/>
              <a:t>CORE FIELDS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837779"/>
            <a:ext cx="10424160" cy="2918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32323"/>
                </a:solidFill>
              </a:defRPr>
            </a:pPr>
            <a:r>
              <a:rPr dirty="0"/>
              <a:t>• Retailer &amp; retailer ID</a:t>
            </a:r>
          </a:p>
          <a:p>
            <a:pPr>
              <a:spcAft>
                <a:spcPts val="1000"/>
              </a:spcAft>
              <a:defRPr sz="1300">
                <a:solidFill>
                  <a:srgbClr val="232323"/>
                </a:solidFill>
              </a:defRPr>
            </a:pPr>
            <a:r>
              <a:rPr dirty="0"/>
              <a:t>• Invoice date</a:t>
            </a:r>
          </a:p>
          <a:p>
            <a:pPr>
              <a:spcAft>
                <a:spcPts val="1000"/>
              </a:spcAft>
              <a:defRPr sz="1300">
                <a:solidFill>
                  <a:srgbClr val="232323"/>
                </a:solidFill>
              </a:defRPr>
            </a:pPr>
            <a:r>
              <a:rPr dirty="0"/>
              <a:t>• Region / state / city</a:t>
            </a:r>
          </a:p>
          <a:p>
            <a:pPr>
              <a:spcAft>
                <a:spcPts val="1000"/>
              </a:spcAft>
              <a:defRPr sz="1300">
                <a:solidFill>
                  <a:srgbClr val="232323"/>
                </a:solidFill>
              </a:defRPr>
            </a:pPr>
            <a:r>
              <a:rPr dirty="0"/>
              <a:t>• Product</a:t>
            </a:r>
          </a:p>
          <a:p>
            <a:pPr>
              <a:spcAft>
                <a:spcPts val="1000"/>
              </a:spcAft>
              <a:defRPr sz="1300">
                <a:solidFill>
                  <a:srgbClr val="232323"/>
                </a:solidFill>
              </a:defRPr>
            </a:pPr>
            <a:r>
              <a:rPr dirty="0"/>
              <a:t>• Price per unit</a:t>
            </a:r>
          </a:p>
          <a:p>
            <a:pPr>
              <a:spcAft>
                <a:spcPts val="1000"/>
              </a:spcAft>
              <a:defRPr sz="1300">
                <a:solidFill>
                  <a:srgbClr val="232323"/>
                </a:solidFill>
              </a:defRPr>
            </a:pPr>
            <a:r>
              <a:rPr dirty="0"/>
              <a:t>• Units sold</a:t>
            </a:r>
          </a:p>
          <a:p>
            <a:pPr>
              <a:spcAft>
                <a:spcPts val="1000"/>
              </a:spcAft>
              <a:defRPr sz="1300">
                <a:solidFill>
                  <a:srgbClr val="232323"/>
                </a:solidFill>
              </a:defRPr>
            </a:pPr>
            <a:r>
              <a:rPr dirty="0"/>
              <a:t>• Total sales</a:t>
            </a:r>
          </a:p>
          <a:p>
            <a:pPr>
              <a:spcAft>
                <a:spcPts val="1000"/>
              </a:spcAft>
              <a:defRPr sz="1300">
                <a:solidFill>
                  <a:srgbClr val="232323"/>
                </a:solidFill>
              </a:defRPr>
            </a:pPr>
            <a:r>
              <a:rPr dirty="0"/>
              <a:t>• Operating profit</a:t>
            </a:r>
            <a:r>
              <a:rPr lang="en-US" dirty="0"/>
              <a:t>  </a:t>
            </a:r>
          </a:p>
          <a:p>
            <a:pPr>
              <a:spcAft>
                <a:spcPts val="1000"/>
              </a:spcAft>
              <a:defRPr sz="1300">
                <a:solidFill>
                  <a:srgbClr val="232323"/>
                </a:solidFill>
              </a:defRPr>
            </a:pPr>
            <a:r>
              <a:rPr dirty="0"/>
              <a:t>• Sales method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565392"/>
            <a:ext cx="11155680" cy="9144"/>
          </a:xfrm>
          <a:prstGeom prst="rect">
            <a:avLst/>
          </a:prstGeom>
          <a:solidFill>
            <a:srgbClr val="DC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0" y="659282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E7681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Data Quality &amp; Preparation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10881360" cy="685800"/>
          </a:xfrm>
          <a:prstGeom prst="roundRect">
            <a:avLst/>
          </a:prstGeom>
          <a:solidFill>
            <a:srgbClr val="F3F6F9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16128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1B26"/>
                </a:solidFill>
              </a:defRPr>
            </a:pPr>
            <a:r>
              <a:t>Missing values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39" y="1161288"/>
            <a:ext cx="6126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323"/>
                </a:solidFill>
              </a:defRPr>
            </a:pPr>
            <a:r>
              <a:t>0 across 13 columns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55480" y="1161288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466EB4"/>
                </a:solidFill>
              </a:defRPr>
            </a:pPr>
            <a:r>
              <a:t>Clean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965960"/>
            <a:ext cx="10881360" cy="685800"/>
          </a:xfrm>
          <a:prstGeom prst="roundRect">
            <a:avLst/>
          </a:prstGeom>
          <a:solidFill>
            <a:srgbClr val="F3F6F9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07568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1B26"/>
                </a:solidFill>
              </a:defRPr>
            </a:pPr>
            <a:r>
              <a:t>Duplicate rows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39" y="2075688"/>
            <a:ext cx="6126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323"/>
                </a:solidFill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55480" y="2075688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466EB4"/>
                </a:solidFill>
              </a:defRPr>
            </a:pPr>
            <a:r>
              <a:t>Clean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880360"/>
            <a:ext cx="10881360" cy="685800"/>
          </a:xfrm>
          <a:prstGeom prst="roundRect">
            <a:avLst/>
          </a:prstGeom>
          <a:solidFill>
            <a:srgbClr val="F3F6F9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299008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1B26"/>
                </a:solidFill>
              </a:defRPr>
            </a:pPr>
            <a:r>
              <a:t>Data types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39" y="2990088"/>
            <a:ext cx="6126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323"/>
                </a:solidFill>
              </a:defRPr>
            </a:pPr>
            <a:r>
              <a:t>6 numeric + 7 object fields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55480" y="2990088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466EB4"/>
                </a:solidFill>
              </a:defRPr>
            </a:pPr>
            <a:r>
              <a:t>Consistent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94760"/>
            <a:ext cx="10881360" cy="685800"/>
          </a:xfrm>
          <a:prstGeom prst="roundRect">
            <a:avLst/>
          </a:prstGeom>
          <a:solidFill>
            <a:srgbClr val="F3F6F9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390448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1B26"/>
                </a:solidFill>
              </a:defRPr>
            </a:pPr>
            <a:r>
              <a:t>Date preparation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39" y="3904488"/>
            <a:ext cx="6126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323"/>
                </a:solidFill>
              </a:defRPr>
            </a:pPr>
            <a:r>
              <a:t>invoice_date converted to datetime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55480" y="3904488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466EB4"/>
                </a:solidFill>
              </a:defRPr>
            </a:pPr>
            <a:r>
              <a:t>Ready for time analysis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709160"/>
            <a:ext cx="10881360" cy="685800"/>
          </a:xfrm>
          <a:prstGeom prst="roundRect">
            <a:avLst/>
          </a:prstGeom>
          <a:solidFill>
            <a:srgbClr val="F3F6F9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481888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1B26"/>
                </a:solidFill>
              </a:defRPr>
            </a:pPr>
            <a:r>
              <a:t>Geographic coverage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39" y="4818888"/>
            <a:ext cx="6126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323"/>
                </a:solidFill>
              </a:defRPr>
            </a:pPr>
            <a:r>
              <a:t>52 unique cities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5480" y="4818888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466EB4"/>
                </a:solidFill>
              </a:defRPr>
            </a:pPr>
            <a:r>
              <a:t>Broad coverage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565392"/>
            <a:ext cx="11155680" cy="9144"/>
          </a:xfrm>
          <a:prstGeom prst="rect">
            <a:avLst/>
          </a:prstGeom>
          <a:solidFill>
            <a:srgbClr val="DC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789920" y="659282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E7681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Executive KPI Snapshot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51560"/>
            <a:ext cx="2057400" cy="1417320"/>
          </a:xfrm>
          <a:prstGeom prst="roundRect">
            <a:avLst/>
          </a:prstGeom>
          <a:solidFill>
            <a:srgbClr val="F3F6F9"/>
          </a:solidFill>
          <a:ln>
            <a:solidFill>
              <a:srgbClr val="CDD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525B67"/>
                </a:solidFill>
              </a:defRPr>
            </a:pPr>
            <a:r>
              <a:t>Total Orders</a:t>
            </a:r>
          </a:p>
          <a:p>
            <a:pPr algn="ctr">
              <a:defRPr sz="2100" b="1">
                <a:solidFill>
                  <a:srgbClr val="141B26"/>
                </a:solidFill>
              </a:defRPr>
            </a:pPr>
            <a:r>
              <a:t>9,637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39" y="1051560"/>
            <a:ext cx="2057400" cy="1417320"/>
          </a:xfrm>
          <a:prstGeom prst="roundRect">
            <a:avLst/>
          </a:prstGeom>
          <a:solidFill>
            <a:srgbClr val="F3F6F9"/>
          </a:solidFill>
          <a:ln>
            <a:solidFill>
              <a:srgbClr val="CDD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525B67"/>
                </a:solidFill>
              </a:defRPr>
            </a:pPr>
            <a:r>
              <a:t>Total Units</a:t>
            </a:r>
          </a:p>
          <a:p>
            <a:pPr algn="ctr">
              <a:defRPr sz="2100" b="1">
                <a:solidFill>
                  <a:srgbClr val="141B26"/>
                </a:solidFill>
              </a:defRPr>
            </a:pPr>
            <a:r>
              <a:t>2,475,611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66359" y="1051560"/>
            <a:ext cx="2057400" cy="1417320"/>
          </a:xfrm>
          <a:prstGeom prst="roundRect">
            <a:avLst/>
          </a:prstGeom>
          <a:solidFill>
            <a:srgbClr val="F3F6F9"/>
          </a:solidFill>
          <a:ln>
            <a:solidFill>
              <a:srgbClr val="CDD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525B67"/>
                </a:solidFill>
              </a:defRPr>
            </a:pPr>
            <a:r>
              <a:t>Total Sales</a:t>
            </a:r>
          </a:p>
          <a:p>
            <a:pPr algn="ctr">
              <a:defRPr sz="2100" b="1">
                <a:solidFill>
                  <a:srgbClr val="141B26"/>
                </a:solidFill>
              </a:defRPr>
            </a:pPr>
            <a:r>
              <a:t>119,996,275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051560"/>
            <a:ext cx="2057400" cy="1417320"/>
          </a:xfrm>
          <a:prstGeom prst="roundRect">
            <a:avLst/>
          </a:prstGeom>
          <a:solidFill>
            <a:srgbClr val="F3F6F9"/>
          </a:solidFill>
          <a:ln>
            <a:solidFill>
              <a:srgbClr val="CDD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525B67"/>
                </a:solidFill>
              </a:defRPr>
            </a:pPr>
            <a:r>
              <a:t>Operating Profit</a:t>
            </a:r>
          </a:p>
          <a:p>
            <a:pPr algn="ctr">
              <a:defRPr sz="2100" b="1">
                <a:solidFill>
                  <a:srgbClr val="141B26"/>
                </a:solidFill>
              </a:defRPr>
            </a:pPr>
            <a:r>
              <a:t>33,158,084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29800" y="1051560"/>
            <a:ext cx="2057400" cy="1417320"/>
          </a:xfrm>
          <a:prstGeom prst="roundRect">
            <a:avLst/>
          </a:prstGeom>
          <a:solidFill>
            <a:srgbClr val="F3F6F9"/>
          </a:solidFill>
          <a:ln>
            <a:solidFill>
              <a:srgbClr val="CDD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525B67"/>
                </a:solidFill>
              </a:defRPr>
            </a:pPr>
            <a:r>
              <a:t>Profit Margin</a:t>
            </a:r>
          </a:p>
          <a:p>
            <a:pPr algn="ctr">
              <a:defRPr sz="2100" b="1">
                <a:solidFill>
                  <a:srgbClr val="141B26"/>
                </a:solidFill>
              </a:defRPr>
            </a:pPr>
            <a:r>
              <a:t>27.63%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803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66EB4"/>
                </a:solidFill>
              </a:defRPr>
            </a:pPr>
            <a:r>
              <a:t>WHAT THE KPIS TELL 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9184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323"/>
                </a:solidFill>
              </a:defRPr>
            </a:pPr>
            <a:r>
              <a:t>• Sales scale is approximately 120M across the analyzed transactions.</a:t>
            </a:r>
          </a:p>
          <a:p>
            <a:pPr>
              <a:spcAft>
                <a:spcPts val="1000"/>
              </a:spcAft>
              <a:defRPr sz="1600">
                <a:solidFill>
                  <a:srgbClr val="232323"/>
                </a:solidFill>
              </a:defRPr>
            </a:pPr>
            <a:r>
              <a:t>• Operating profit is approximately 33.2M, with a reported dashboard margin of 27.63%.</a:t>
            </a:r>
          </a:p>
          <a:p>
            <a:pPr>
              <a:spcAft>
                <a:spcPts val="1000"/>
              </a:spcAft>
              <a:defRPr sz="1600">
                <a:solidFill>
                  <a:srgbClr val="232323"/>
                </a:solidFill>
              </a:defRPr>
            </a:pPr>
            <a:r>
              <a:t>• The dataset records more than 2.47M units sold and 9.6K orders.</a:t>
            </a:r>
          </a:p>
          <a:p>
            <a:pPr>
              <a:spcAft>
                <a:spcPts val="1000"/>
              </a:spcAft>
              <a:defRPr sz="1600">
                <a:solidFill>
                  <a:srgbClr val="232323"/>
                </a:solidFill>
              </a:defRPr>
            </a:pPr>
            <a:r>
              <a:t>• The KPI layer provides the executive starting point for deeper segment analysis.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565392"/>
            <a:ext cx="11155680" cy="9144"/>
          </a:xfrm>
          <a:prstGeom prst="rect">
            <a:avLst/>
          </a:prstGeom>
          <a:solidFill>
            <a:srgbClr val="DC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789920" y="659282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E7681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Monthly Sales Trend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94360" y="1005840"/>
          <a:ext cx="74066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366760" y="10515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66EB4"/>
                </a:solidFill>
              </a:defRPr>
            </a:pPr>
            <a:r>
              <a:t>TREND INTERPRETATION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1417320"/>
            <a:ext cx="2971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32323"/>
                </a:solidFill>
              </a:defRPr>
            </a:pPr>
            <a:r>
              <a:t>• Sales fluctuate meaningfully across the year.</a:t>
            </a:r>
          </a:p>
          <a:p>
            <a:pPr>
              <a:spcAft>
                <a:spcPts val="1000"/>
              </a:spcAft>
              <a:defRPr sz="1400">
                <a:solidFill>
                  <a:srgbClr val="232323"/>
                </a:solidFill>
              </a:defRPr>
            </a:pPr>
            <a:r>
              <a:t>• July is the strongest displayed month at roughly 12.28M.</a:t>
            </a:r>
          </a:p>
          <a:p>
            <a:pPr>
              <a:spcAft>
                <a:spcPts val="1000"/>
              </a:spcAft>
              <a:defRPr sz="1400">
                <a:solidFill>
                  <a:srgbClr val="232323"/>
                </a:solidFill>
              </a:defRPr>
            </a:pPr>
            <a:r>
              <a:t>• September–October show a noticeable slowdown.</a:t>
            </a:r>
          </a:p>
          <a:p>
            <a:pPr>
              <a:spcAft>
                <a:spcPts val="1000"/>
              </a:spcAft>
              <a:defRPr sz="1400">
                <a:solidFill>
                  <a:srgbClr val="232323"/>
                </a:solidFill>
              </a:defRPr>
            </a:pPr>
            <a:r>
              <a:t>• Sales recover toward December, ending near 11.39M.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65392"/>
            <a:ext cx="11155680" cy="9144"/>
          </a:xfrm>
          <a:prstGeom prst="rect">
            <a:avLst/>
          </a:prstGeom>
          <a:solidFill>
            <a:srgbClr val="DC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0" y="659282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E7681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Retailer Performance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94360" y="1005840"/>
          <a:ext cx="667512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26679" y="10972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66EB4"/>
                </a:solidFill>
              </a:defRPr>
            </a:pPr>
            <a:r>
              <a:t>BUSINESS READING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463040"/>
            <a:ext cx="3474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32323"/>
                </a:solidFill>
              </a:defRPr>
            </a:pPr>
            <a:r>
              <a:t>• Foot Locker has the largest record count (2,630).</a:t>
            </a:r>
          </a:p>
          <a:p>
            <a:pPr>
              <a:spcAft>
                <a:spcPts val="1000"/>
              </a:spcAft>
              <a:defRPr sz="1400">
                <a:solidFill>
                  <a:srgbClr val="232323"/>
                </a:solidFill>
              </a:defRPr>
            </a:pPr>
            <a:r>
              <a:t>• West Gear has 2,372 records and is the strongest sales contributor in the dashboard view.</a:t>
            </a:r>
          </a:p>
          <a:p>
            <a:pPr>
              <a:spcAft>
                <a:spcPts val="1000"/>
              </a:spcAft>
              <a:defRPr sz="1400">
                <a:solidFill>
                  <a:srgbClr val="232323"/>
                </a:solidFill>
              </a:defRPr>
            </a:pPr>
            <a:r>
              <a:t>• Sports Direct follows with 2,030 records.</a:t>
            </a:r>
          </a:p>
          <a:p>
            <a:pPr>
              <a:spcAft>
                <a:spcPts val="1000"/>
              </a:spcAft>
              <a:defRPr sz="1400">
                <a:solidFill>
                  <a:srgbClr val="232323"/>
                </a:solidFill>
              </a:defRPr>
            </a:pPr>
            <a:r>
              <a:t>• Record count and sales value are different measures and should be interpreted separately.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65392"/>
            <a:ext cx="11155680" cy="9144"/>
          </a:xfrm>
          <a:prstGeom prst="rect">
            <a:avLst/>
          </a:prstGeom>
          <a:solidFill>
            <a:srgbClr val="DC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0" y="659282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E7681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Product Performance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051560"/>
          <a:ext cx="713232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955279" y="11430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66EB4"/>
                </a:solidFill>
              </a:defRPr>
            </a:pPr>
            <a:r>
              <a:t>KEY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508760"/>
            <a:ext cx="33832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32323"/>
                </a:solidFill>
              </a:defRPr>
            </a:pPr>
            <a:r>
              <a:t>• All six product categories have very similar record volumes.</a:t>
            </a:r>
          </a:p>
          <a:p>
            <a:pPr>
              <a:spcAft>
                <a:spcPts val="1000"/>
              </a:spcAft>
              <a:defRPr sz="1400">
                <a:solidFill>
                  <a:srgbClr val="232323"/>
                </a:solidFill>
              </a:defRPr>
            </a:pPr>
            <a:r>
              <a:t>• The dashboard shows Men's Street Footwear as the leading category by sales value.</a:t>
            </a:r>
          </a:p>
          <a:p>
            <a:pPr>
              <a:spcAft>
                <a:spcPts val="1000"/>
              </a:spcAft>
              <a:defRPr sz="1400">
                <a:solidFill>
                  <a:srgbClr val="232323"/>
                </a:solidFill>
              </a:defRPr>
            </a:pPr>
            <a:r>
              <a:t>• This indicates that sales differences are not simply caused by one category having far more transactions.</a:t>
            </a:r>
          </a:p>
          <a:p>
            <a:pPr>
              <a:spcAft>
                <a:spcPts val="1000"/>
              </a:spcAft>
              <a:defRPr sz="1400">
                <a:solidFill>
                  <a:srgbClr val="232323"/>
                </a:solidFill>
              </a:defRPr>
            </a:pPr>
            <a:r>
              <a:t>• Product decisions should consider both sales and operating profit.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65392"/>
            <a:ext cx="11155680" cy="9144"/>
          </a:xfrm>
          <a:prstGeom prst="rect">
            <a:avLst/>
          </a:prstGeom>
          <a:solidFill>
            <a:srgbClr val="DC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0" y="659282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E7681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Regional &amp; City Performance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94360" y="1051560"/>
          <a:ext cx="475488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06440" y="10515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66EB4"/>
                </a:solidFill>
              </a:defRPr>
            </a:pPr>
            <a:r>
              <a:t>TOP-CITY 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1417320"/>
            <a:ext cx="5394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</a:defRPr>
            </a:pPr>
            <a:r>
              <a:t>• New York — leading displayed city at ~5.76M sales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</a:defRPr>
            </a:pPr>
            <a:r>
              <a:t>• Charleston — among the next strongest cities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</a:defRPr>
            </a:pPr>
            <a:r>
              <a:t>• San Francisco — strong contributor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</a:defRPr>
            </a:pPr>
            <a:r>
              <a:t>• Portland — strong contributor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</a:defRPr>
            </a:pPr>
            <a:r>
              <a:t>• Orlando — strong contributor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6440" y="4754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66EB4"/>
                </a:solidFill>
              </a:defRPr>
            </a:pPr>
            <a:r>
              <a:t>REGIONAL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440" y="507492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32323"/>
                </a:solidFill>
              </a:defRPr>
            </a:pPr>
            <a:r>
              <a:t>• West contributes the largest displayed share at 30.29%.</a:t>
            </a:r>
          </a:p>
          <a:p>
            <a:pPr>
              <a:spcAft>
                <a:spcPts val="1000"/>
              </a:spcAft>
              <a:defRPr sz="1300">
                <a:solidFill>
                  <a:srgbClr val="232323"/>
                </a:solidFill>
              </a:defRPr>
            </a:pPr>
            <a:r>
              <a:t>• The Northeast is the second-largest region at 20.90%.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65392"/>
            <a:ext cx="11155680" cy="9144"/>
          </a:xfrm>
          <a:prstGeom prst="rect">
            <a:avLst/>
          </a:prstGeom>
          <a:solidFill>
            <a:srgbClr val="DC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789920" y="659282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E7681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Sales Method Mix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051560"/>
          <a:ext cx="502920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72200" y="10972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66EB4"/>
                </a:solidFill>
              </a:defRPr>
            </a:pPr>
            <a:r>
              <a:t>CHANNEL INSIGHT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46304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323"/>
                </a:solidFill>
              </a:defRPr>
            </a:pPr>
            <a:r>
              <a:t>• In-store is the largest sales method at 37.47%.</a:t>
            </a:r>
          </a:p>
          <a:p>
            <a:pPr>
              <a:spcAft>
                <a:spcPts val="1000"/>
              </a:spcAft>
              <a:defRPr sz="1600">
                <a:solidFill>
                  <a:srgbClr val="232323"/>
                </a:solidFill>
              </a:defRPr>
            </a:pPr>
            <a:r>
              <a:t>• Outlet contributes 32.81%.</a:t>
            </a:r>
          </a:p>
          <a:p>
            <a:pPr>
              <a:spcAft>
                <a:spcPts val="1000"/>
              </a:spcAft>
              <a:defRPr sz="1600">
                <a:solidFill>
                  <a:srgbClr val="232323"/>
                </a:solidFill>
              </a:defRPr>
            </a:pPr>
            <a:r>
              <a:t>• Online contributes 29.72%.</a:t>
            </a:r>
          </a:p>
          <a:p>
            <a:pPr>
              <a:spcAft>
                <a:spcPts val="1000"/>
              </a:spcAft>
              <a:defRPr sz="1600">
                <a:solidFill>
                  <a:srgbClr val="232323"/>
                </a:solidFill>
              </a:defRPr>
            </a:pPr>
            <a:r>
              <a:t>• The mix is relatively balanced, so an omnichannel strategy remains important.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65392"/>
            <a:ext cx="11155680" cy="9144"/>
          </a:xfrm>
          <a:prstGeom prst="rect">
            <a:avLst/>
          </a:prstGeom>
          <a:solidFill>
            <a:srgbClr val="DC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0" y="659282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E7681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Excel Dashboard</a:t>
            </a:r>
          </a:p>
        </p:txBody>
      </p:sp>
      <p:pic>
        <p:nvPicPr>
          <p:cNvPr id="6" name="Picture 5" descr="Adidas Excel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66852"/>
            <a:ext cx="11384279" cy="486145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6565392"/>
            <a:ext cx="11155680" cy="9144"/>
          </a:xfrm>
          <a:prstGeom prst="rect">
            <a:avLst/>
          </a:prstGeom>
          <a:solidFill>
            <a:srgbClr val="DC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0" y="659282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E7681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Power BI Dashboard</a:t>
            </a:r>
          </a:p>
        </p:txBody>
      </p:sp>
      <p:pic>
        <p:nvPicPr>
          <p:cNvPr id="6" name="Picture 5" descr="Adidas power bi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969" y="822960"/>
            <a:ext cx="9853300" cy="53492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6565392"/>
            <a:ext cx="11155680" cy="9144"/>
          </a:xfrm>
          <a:prstGeom prst="rect">
            <a:avLst/>
          </a:prstGeom>
          <a:solidFill>
            <a:srgbClr val="DC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0" y="659282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E7681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Tableau Dashboard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65392"/>
            <a:ext cx="11155680" cy="9144"/>
          </a:xfrm>
          <a:prstGeom prst="rect">
            <a:avLst/>
          </a:prstGeom>
          <a:solidFill>
            <a:srgbClr val="DC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0" y="659282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E7681"/>
                </a:solidFill>
              </a:defRPr>
            </a:pPr>
            <a:r>
              <a:t>13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711CAB-A823-4EB8-822C-B52B0FE57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23784"/>
            <a:ext cx="11830929" cy="570444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Key Business Insights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960120"/>
            <a:ext cx="5257800" cy="1234440"/>
          </a:xfrm>
          <a:prstGeom prst="roundRect">
            <a:avLst/>
          </a:prstGeom>
          <a:solidFill>
            <a:srgbClr val="F3F6F9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069848"/>
            <a:ext cx="4892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1B26"/>
                </a:solidFill>
              </a:defRPr>
            </a:pPr>
            <a:r>
              <a:t>West-led performance</a:t>
            </a:r>
          </a:p>
          <a:p>
            <a:pPr>
              <a:spcBef>
                <a:spcPts val="500"/>
              </a:spcBef>
              <a:defRPr sz="1150">
                <a:solidFill>
                  <a:srgbClr val="232323"/>
                </a:solidFill>
              </a:defRPr>
            </a:pPr>
            <a:r>
              <a:t>West is the largest regional contributor in the Tableau view (30.29%).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960120"/>
            <a:ext cx="5257800" cy="1234440"/>
          </a:xfrm>
          <a:prstGeom prst="roundRect">
            <a:avLst/>
          </a:prstGeom>
          <a:solidFill>
            <a:srgbClr val="F3F6F9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069848"/>
            <a:ext cx="4892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1B26"/>
                </a:solidFill>
              </a:defRPr>
            </a:pPr>
            <a:r>
              <a:t>Retailer concentration</a:t>
            </a:r>
          </a:p>
          <a:p>
            <a:pPr>
              <a:spcBef>
                <a:spcPts val="500"/>
              </a:spcBef>
              <a:defRPr sz="1150">
                <a:solidFill>
                  <a:srgbClr val="232323"/>
                </a:solidFill>
              </a:defRPr>
            </a:pPr>
            <a:r>
              <a:t>West Gear and Foot Locker occupy the strongest sales positions in the dashboard story.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60320"/>
            <a:ext cx="5257800" cy="1234440"/>
          </a:xfrm>
          <a:prstGeom prst="roundRect">
            <a:avLst/>
          </a:prstGeom>
          <a:solidFill>
            <a:srgbClr val="F3F6F9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59" y="2670048"/>
            <a:ext cx="4892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1B26"/>
                </a:solidFill>
              </a:defRPr>
            </a:pPr>
            <a:r>
              <a:t>Product opportunity</a:t>
            </a:r>
          </a:p>
          <a:p>
            <a:pPr>
              <a:spcBef>
                <a:spcPts val="500"/>
              </a:spcBef>
              <a:defRPr sz="1150">
                <a:solidFill>
                  <a:srgbClr val="232323"/>
                </a:solidFill>
              </a:defRPr>
            </a:pPr>
            <a:r>
              <a:t>Men's Street Footwear is the leading displayed product category by sales.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560320"/>
            <a:ext cx="5257800" cy="1234440"/>
          </a:xfrm>
          <a:prstGeom prst="roundRect">
            <a:avLst/>
          </a:prstGeom>
          <a:solidFill>
            <a:srgbClr val="F3F6F9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2670048"/>
            <a:ext cx="4892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1B26"/>
                </a:solidFill>
              </a:defRPr>
            </a:pPr>
            <a:r>
              <a:t>Balanced channels</a:t>
            </a:r>
          </a:p>
          <a:p>
            <a:pPr>
              <a:spcBef>
                <a:spcPts val="500"/>
              </a:spcBef>
              <a:defRPr sz="1150">
                <a:solidFill>
                  <a:srgbClr val="232323"/>
                </a:solidFill>
              </a:defRPr>
            </a:pPr>
            <a:r>
              <a:t>In-store leads, but Outlet and Online remain substantial contributors.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160520"/>
            <a:ext cx="5257800" cy="1234440"/>
          </a:xfrm>
          <a:prstGeom prst="roundRect">
            <a:avLst/>
          </a:prstGeom>
          <a:solidFill>
            <a:srgbClr val="F3F6F9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59" y="4270248"/>
            <a:ext cx="4892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1B26"/>
                </a:solidFill>
              </a:defRPr>
            </a:pPr>
            <a:r>
              <a:t>City concentration</a:t>
            </a:r>
          </a:p>
          <a:p>
            <a:pPr>
              <a:spcBef>
                <a:spcPts val="500"/>
              </a:spcBef>
              <a:defRPr sz="1150">
                <a:solidFill>
                  <a:srgbClr val="232323"/>
                </a:solidFill>
              </a:defRPr>
            </a:pPr>
            <a:r>
              <a:t>New York is the leading displayed city, with several other major cities contributing strongly.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4160520"/>
            <a:ext cx="5257800" cy="1234440"/>
          </a:xfrm>
          <a:prstGeom prst="roundRect">
            <a:avLst/>
          </a:prstGeom>
          <a:solidFill>
            <a:srgbClr val="F3F6F9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46520" y="4270248"/>
            <a:ext cx="4892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1B26"/>
                </a:solidFill>
              </a:defRPr>
            </a:pPr>
            <a:r>
              <a:t>Profit alongside sales</a:t>
            </a:r>
          </a:p>
          <a:p>
            <a:pPr>
              <a:spcBef>
                <a:spcPts val="500"/>
              </a:spcBef>
              <a:defRPr sz="1150">
                <a:solidFill>
                  <a:srgbClr val="232323"/>
                </a:solidFill>
              </a:defRPr>
            </a:pPr>
            <a:r>
              <a:t>Product-level sales vs operating-profit views support more balanced decisions than sales-only ranking.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565392"/>
            <a:ext cx="11155680" cy="9144"/>
          </a:xfrm>
          <a:prstGeom prst="rect">
            <a:avLst/>
          </a:prstGeom>
          <a:solidFill>
            <a:srgbClr val="DC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789920" y="659282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E7681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60120"/>
            <a:ext cx="106070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</a:defRPr>
            </a:pPr>
            <a:r>
              <a:t>• Prioritize inventory and promotional planning for high-sales product categories, especially Men's Street Footwear.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</a:defRPr>
            </a:pPr>
            <a:r>
              <a:t>• Develop retailer-specific strategies for West Gear and Foot Locker.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</a:defRPr>
            </a:pPr>
            <a:r>
              <a:t>• Protect the West region's performance while investigating the drivers behind its stronger contribution.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</a:defRPr>
            </a:pPr>
            <a:r>
              <a:t>• Maintain a balanced omnichannel strategy across In-store, Outlet and Online.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</a:defRPr>
            </a:pPr>
            <a:r>
              <a:t>• Use city-level performance to localize inventory and marketing decisions.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</a:defRPr>
            </a:pPr>
            <a:r>
              <a:t>• Track operating profit and margin alongside sales for every major segment.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</a:defRPr>
            </a:pPr>
            <a:r>
              <a:t>• Extend the dashboard with YoY growth, average order value, segment-level margin and channel profitability where supported by the source data.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65392"/>
            <a:ext cx="11155680" cy="9144"/>
          </a:xfrm>
          <a:prstGeom prst="rect">
            <a:avLst/>
          </a:prstGeom>
          <a:solidFill>
            <a:srgbClr val="DC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0" y="659282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E7681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136"/>
            <a:ext cx="12191695" cy="6858000"/>
          </a:xfrm>
          <a:prstGeom prst="rect">
            <a:avLst/>
          </a:prstGeom>
          <a:solidFill>
            <a:srgbClr val="141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148840"/>
            <a:ext cx="10241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900">
                <a:solidFill>
                  <a:srgbClr val="DCE1E8"/>
                </a:solidFill>
              </a:defRPr>
            </a:pPr>
            <a:r>
              <a:t>The Adidas US sales analysis provides a clear, multi-dimensional view of performance across time, products, retailers, geography and sales methods. The source EDA reports a clean dataset with no missing values or duplicate rows, while the BI dashboards translate the analysis into decision-ready visuals.</a:t>
            </a:r>
          </a:p>
          <a:p>
            <a:pPr>
              <a:defRPr sz="1900">
                <a:solidFill>
                  <a:srgbClr val="DCE1E8"/>
                </a:solidFill>
              </a:defRPr>
            </a:pPr>
            <a:r>
              <a:t>The combined view highlights strong performance in the West, important contributions from leading retailers, Men's Street Footwear as a key product, and a relatively balanced sales-method mix.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4983480"/>
            <a:ext cx="3749039" cy="658368"/>
          </a:xfrm>
          <a:prstGeom prst="roundRect">
            <a:avLst/>
          </a:prstGeom>
          <a:solidFill>
            <a:srgbClr val="46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dirty="0"/>
              <a:t>DATA → INSIGHT → 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155680" cy="9144"/>
          </a:xfrm>
          <a:prstGeom prst="rect">
            <a:avLst/>
          </a:prstGeom>
          <a:solidFill>
            <a:srgbClr val="DC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59282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E7681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822</Words>
  <Application>Microsoft Office PowerPoint</Application>
  <PresentationFormat>Widescreen</PresentationFormat>
  <Paragraphs>149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Dell Latitude 5480</cp:lastModifiedBy>
  <cp:revision>4</cp:revision>
  <dcterms:created xsi:type="dcterms:W3CDTF">2013-01-27T09:14:16Z</dcterms:created>
  <dcterms:modified xsi:type="dcterms:W3CDTF">2026-09-22T14:47:46Z</dcterms:modified>
  <cp:category/>
</cp:coreProperties>
</file>