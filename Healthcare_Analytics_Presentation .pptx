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A8B52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Arthritis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Obesity</c:v>
                </c:pt>
                <c:pt idx="4">
                  <c:v>Cancer</c:v>
                </c:pt>
                <c:pt idx="5">
                  <c:v>Asthma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9308</c:v>
                </c:pt>
                <c:pt idx="1">
                  <c:v>9304</c:v>
                </c:pt>
                <c:pt idx="2">
                  <c:v>9245</c:v>
                </c:pt>
                <c:pt idx="3">
                  <c:v>9231</c:v>
                </c:pt>
                <c:pt idx="4">
                  <c:v>9227</c:v>
                </c:pt>
                <c:pt idx="5">
                  <c:v>9185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2F3-4347-8DC4-A1019ACD5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Elective</c:v>
                </c:pt>
                <c:pt idx="1">
                  <c:v>Emergency</c:v>
                </c:pt>
                <c:pt idx="2">
                  <c:v>Urgent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18655</c:v>
                </c:pt>
                <c:pt idx="1">
                  <c:v>18269</c:v>
                </c:pt>
                <c:pt idx="2">
                  <c:v>18576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64-4E79-B87B-F611CFD1B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87646-B3A2-4187-BA9E-D6F0426CC19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A3CA9-41AB-499E-9047-C183C1528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53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A3CA9-41AB-499E-9047-C183C15280A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28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0340"/>
            <a:ext cx="12191695" cy="6858000"/>
          </a:xfrm>
          <a:prstGeom prst="rect">
            <a:avLst/>
          </a:prstGeom>
          <a:solidFill>
            <a:srgbClr val="13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HEALTHCARE</a:t>
            </a:r>
          </a:p>
          <a:p>
            <a:pPr algn="ctr">
              <a:defRPr sz="4800" b="1">
                <a:solidFill>
                  <a:srgbClr val="2A8B52"/>
                </a:solidFill>
              </a:defRPr>
            </a:pPr>
            <a:r>
              <a:t>ANALYTICS</a:t>
            </a:r>
          </a:p>
          <a:p>
            <a:pPr algn="ctr">
              <a:defRPr sz="2300">
                <a:solidFill>
                  <a:srgbClr val="FFFFFF"/>
                </a:solidFill>
              </a:defRPr>
            </a:pPr>
            <a:r>
              <a:t>EDA &amp; Dashboard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605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CDDCD6"/>
                </a:solidFill>
              </a:defRPr>
            </a:pPr>
            <a:r>
              <a:rPr dirty="0"/>
              <a:t>Python  |  Excel  |  Power BI  |  Tableau</a:t>
            </a:r>
          </a:p>
          <a:p>
            <a:pPr algn="ctr">
              <a:defRPr sz="1200">
                <a:solidFill>
                  <a:srgbClr val="AABEB7"/>
                </a:solidFill>
              </a:defRPr>
            </a:pPr>
            <a:r>
              <a:rPr dirty="0"/>
              <a:t>Patient • Clinical • Admission • Billing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Project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515600" cy="438912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373E"/>
                </a:solidFill>
              </a:defRPr>
            </a:pPr>
            <a:r>
              <a:t>How are patients distributed across age, gender and medical conditions?</a:t>
            </a:r>
          </a:p>
          <a:p>
            <a:pPr>
              <a:spcAft>
                <a:spcPts val="1100"/>
              </a:spcAft>
              <a:defRPr sz="1800">
                <a:solidFill>
                  <a:srgbClr val="2D373E"/>
                </a:solidFill>
              </a:defRPr>
            </a:pPr>
            <a:r>
              <a:t>Which admission types and test-result categories are most common?</a:t>
            </a:r>
          </a:p>
          <a:p>
            <a:pPr>
              <a:spcAft>
                <a:spcPts val="1100"/>
              </a:spcAft>
              <a:defRPr sz="1800">
                <a:solidFill>
                  <a:srgbClr val="2D373E"/>
                </a:solidFill>
              </a:defRPr>
            </a:pPr>
            <a:r>
              <a:t>How do medications and insurance providers compare by patient volume and billing?</a:t>
            </a:r>
          </a:p>
          <a:p>
            <a:pPr>
              <a:spcAft>
                <a:spcPts val="1100"/>
              </a:spcAft>
              <a:defRPr sz="1800">
                <a:solidFill>
                  <a:srgbClr val="2D373E"/>
                </a:solidFill>
              </a:defRPr>
            </a:pPr>
            <a:r>
              <a:t>How does patient volume change over time?</a:t>
            </a:r>
          </a:p>
          <a:p>
            <a:pPr>
              <a:spcAft>
                <a:spcPts val="1100"/>
              </a:spcAft>
              <a:defRPr sz="1800">
                <a:solidFill>
                  <a:srgbClr val="2D373E"/>
                </a:solidFill>
              </a:defRPr>
            </a:pPr>
            <a:r>
              <a:t>How can EDA findings be converted into clear, decision-ready dashboards?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Dataset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468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378"/>
                </a:solidFill>
              </a:defRPr>
            </a:pPr>
            <a:r>
              <a:t>Records</a:t>
            </a:r>
          </a:p>
          <a:p>
            <a:pPr algn="ctr">
              <a:defRPr sz="2300" b="1">
                <a:solidFill>
                  <a:srgbClr val="2A8B52"/>
                </a:solidFill>
              </a:defRPr>
            </a:pPr>
            <a:r>
              <a:t>55,500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68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378"/>
                </a:solidFill>
              </a:defRPr>
            </a:pPr>
            <a:r>
              <a:t>Columns</a:t>
            </a:r>
          </a:p>
          <a:p>
            <a:pPr algn="ctr">
              <a:defRPr sz="2300" b="1">
                <a:solidFill>
                  <a:srgbClr val="2A8B52"/>
                </a:solidFill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2468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378"/>
                </a:solidFill>
              </a:defRPr>
            </a:pPr>
            <a:r>
              <a:t>Average Age</a:t>
            </a:r>
          </a:p>
          <a:p>
            <a:pPr algn="ctr">
              <a:defRPr sz="2300" b="1">
                <a:solidFill>
                  <a:srgbClr val="2A8B52"/>
                </a:solidFill>
              </a:defRPr>
            </a:pPr>
            <a:r>
              <a:t>51.54 yrs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417320"/>
            <a:ext cx="2468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378"/>
                </a:solidFill>
              </a:defRPr>
            </a:pPr>
            <a:r>
              <a:t>Avg. Billing</a:t>
            </a:r>
          </a:p>
          <a:p>
            <a:pPr algn="ctr">
              <a:defRPr sz="2300" b="1">
                <a:solidFill>
                  <a:srgbClr val="2A8B52"/>
                </a:solidFill>
              </a:defRPr>
            </a:pPr>
            <a:r>
              <a:t>25,539.32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521208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DATA RANGE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Age: 13–89 years  •  Billing: -2,008.49 to 52,764.28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21208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DATA COMPLETENESS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All 15 fields contain 55,500 non-null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72000"/>
            <a:ext cx="521208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MAIN DOMAINS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Demographics, clinical conditions, hospital details, admissions, insurance and billing.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EDA COVERAGE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Cleaning, duplicates, unique values, distributions, grouping and summary statistics.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Data Quality &amp; EDA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1089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378"/>
                </a:solidFill>
              </a:defRPr>
            </a:pPr>
            <a:r>
              <a:t>Missing Values</a:t>
            </a:r>
          </a:p>
          <a:p>
            <a:pPr algn="ctr">
              <a:defRPr sz="2300" b="1">
                <a:solidFill>
                  <a:srgbClr val="2A8B52"/>
                </a:solidFill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31089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378"/>
                </a:solidFill>
              </a:defRPr>
            </a:pPr>
            <a:r>
              <a:t>Duplicate Rows</a:t>
            </a:r>
          </a:p>
          <a:p>
            <a:pPr algn="ctr">
              <a:defRPr sz="2300" b="1">
                <a:solidFill>
                  <a:srgbClr val="D24C4C"/>
                </a:solidFill>
              </a:defRPr>
            </a:pPr>
            <a:r>
              <a:t>534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1089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378"/>
                </a:solidFill>
              </a:defRPr>
            </a:pPr>
            <a:r>
              <a:t>Test Result Categories</a:t>
            </a:r>
          </a:p>
          <a:p>
            <a:pPr algn="ctr">
              <a:defRPr sz="2300" b="1">
                <a:solidFill>
                  <a:srgbClr val="2A8B52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68748"/>
            <a:ext cx="10515600" cy="438912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373E"/>
                </a:solidFill>
              </a:defRPr>
            </a:pPr>
            <a:r>
              <a:t>Missing-value check: no missing values were found.</a:t>
            </a:r>
          </a:p>
          <a:p>
            <a:pPr>
              <a:spcAft>
                <a:spcPts val="1100"/>
              </a:spcAft>
              <a:defRPr sz="1700">
                <a:solidFill>
                  <a:srgbClr val="2D373E"/>
                </a:solidFill>
              </a:defRPr>
            </a:pPr>
            <a:r>
              <a:t>Duplicate check: 534 duplicate rows were identified and should be reviewed.</a:t>
            </a:r>
          </a:p>
          <a:p>
            <a:pPr>
              <a:spcAft>
                <a:spcPts val="1100"/>
              </a:spcAft>
              <a:defRPr sz="1700">
                <a:solidFill>
                  <a:srgbClr val="2D373E"/>
                </a:solidFill>
              </a:defRPr>
            </a:pPr>
            <a:r>
              <a:t>Test Results contains Normal, Inconclusive and Abnormal.</a:t>
            </a:r>
          </a:p>
          <a:p>
            <a:pPr>
              <a:spcAft>
                <a:spcPts val="1100"/>
              </a:spcAft>
              <a:defRPr sz="1700">
                <a:solidFill>
                  <a:srgbClr val="2D373E"/>
                </a:solidFill>
              </a:defRPr>
            </a:pPr>
            <a:r>
              <a:t>Billing contains a negative minimum value, which should be investigated as a potential anomaly before financial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Medical Condition Analysis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41732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75320" y="1554480"/>
            <a:ext cx="32004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HIGHEST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Arthritis — 9,308 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971800"/>
            <a:ext cx="32004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LOWEST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Asthma — 9,185 patients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389120"/>
            <a:ext cx="32004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INTERPRETATION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The condition mix is relatively balanced, with only a small difference between highest and lowest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Admission Type Analysis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325880"/>
          <a:ext cx="58521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40880" y="1508760"/>
            <a:ext cx="4206240" cy="109728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ELECTIVE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18,655 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788920"/>
            <a:ext cx="4206240" cy="109728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URGENT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18,576 patients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069080"/>
            <a:ext cx="4206240" cy="109728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EMERGENCY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18,269 patients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Excel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092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0" y="15087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WHAT IT SHOWS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KPIs, trends, medical conditions, medication, insurance, age group, gender and admission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8803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KEY FEATURES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Slicers for Gender, Age Group, Admission Type, Test Results and Years.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2519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USE CASE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Strong for Pivot-based reporting and quick interactive filtering.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CE2C01-9D7C-45AE-BD50-784A85C77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1" y="1414181"/>
            <a:ext cx="8092439" cy="5113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Power BI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5087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WHAT IT SHOWS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Yearly patient trend plus clinical, admission, medication, insurance, age and gender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8803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KEY FEATURES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KPI cards and multiple business-style visuals in one report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2519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USE CASE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Strong for interactive business intelligence and decision-ready reporting.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4390F5-4FD9-443E-B563-B30FA1750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59" y="1307592"/>
            <a:ext cx="8544013" cy="51776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Tableau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092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0" y="15087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WHAT IT SHOWS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KPI cards, filters and visuals for year, age group, gender, test results and clinical dimensions.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8803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KEY FEATURES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Interactive filtering with a compact executive-dashboard layout.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251960"/>
            <a:ext cx="2743200" cy="1234440"/>
          </a:xfrm>
          <a:prstGeom prst="roundRect">
            <a:avLst/>
          </a:prstGeom>
          <a:solidFill>
            <a:srgbClr val="E0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A8B52"/>
                </a:solidFill>
              </a:defRPr>
            </a:pPr>
            <a:r>
              <a:t>USE CASE</a:t>
            </a:r>
          </a:p>
          <a:p>
            <a:pPr>
              <a:spcBef>
                <a:spcPts val="600"/>
              </a:spcBef>
              <a:defRPr sz="1150">
                <a:solidFill>
                  <a:srgbClr val="2D373E"/>
                </a:solidFill>
              </a:defRPr>
            </a:pPr>
            <a:r>
              <a:t>Strong for visual exploration and storytelling across dimensions.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D46C35-FAA4-4059-AEC8-39C86103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45575"/>
            <a:ext cx="8261252" cy="5283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Tool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423160" cy="749808"/>
          </a:xfrm>
          <a:prstGeom prst="roundRect">
            <a:avLst/>
          </a:prstGeom>
          <a:solidFill>
            <a:srgbClr val="13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Python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3E"/>
                </a:solidFill>
              </a:defRPr>
            </a:pPr>
            <a:r>
              <a:t>Cleaning • statistics •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46304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8B52"/>
                </a:solidFill>
              </a:defRPr>
            </a:pPr>
            <a:r>
              <a:t>Deep analytical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2423160" cy="749808"/>
          </a:xfrm>
          <a:prstGeom prst="roundRect">
            <a:avLst/>
          </a:prstGeom>
          <a:solidFill>
            <a:srgbClr val="13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3E"/>
                </a:solidFill>
              </a:defRPr>
            </a:pPr>
            <a:r>
              <a:t>Pivot tables • quick charts • slicers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6032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8B52"/>
                </a:solidFill>
              </a:defRPr>
            </a:pPr>
            <a:r>
              <a:t>Fast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2423160" cy="749808"/>
          </a:xfrm>
          <a:prstGeom prst="roundRect">
            <a:avLst/>
          </a:prstGeom>
          <a:solidFill>
            <a:srgbClr val="13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65760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3E"/>
                </a:solidFill>
              </a:defRPr>
            </a:pPr>
            <a:r>
              <a:t>Interactive BI • KPIs •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65760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8B52"/>
                </a:solidFill>
              </a:defRPr>
            </a:pPr>
            <a:r>
              <a:t>Business dashboards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09160"/>
            <a:ext cx="2423160" cy="749808"/>
          </a:xfrm>
          <a:prstGeom prst="roundRect">
            <a:avLst/>
          </a:prstGeom>
          <a:solidFill>
            <a:srgbClr val="13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Tableau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7548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3E"/>
                </a:solidFill>
              </a:defRPr>
            </a:pPr>
            <a:r>
              <a:t>Visual exploration • storytelling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754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8B52"/>
                </a:solidFill>
              </a:defRPr>
            </a:pPr>
            <a:r>
              <a:t>Interactive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4783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438912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1100"/>
              </a:spcAft>
              <a:defRPr sz="1650">
                <a:solidFill>
                  <a:srgbClr val="2D373E"/>
                </a:solidFill>
              </a:defRPr>
            </a:pPr>
            <a:r>
              <a:t>55,500 patient records provide a strong base for multi-dimensional analysis.</a:t>
            </a:r>
          </a:p>
          <a:p>
            <a:pPr>
              <a:spcAft>
                <a:spcPts val="1100"/>
              </a:spcAft>
              <a:defRPr sz="1650">
                <a:solidFill>
                  <a:srgbClr val="2D373E"/>
                </a:solidFill>
              </a:defRPr>
            </a:pPr>
            <a:r>
              <a:t>Average patient age is about 51.54 years.</a:t>
            </a:r>
          </a:p>
          <a:p>
            <a:pPr>
              <a:spcAft>
                <a:spcPts val="1100"/>
              </a:spcAft>
              <a:defRPr sz="1650">
                <a:solidFill>
                  <a:srgbClr val="2D373E"/>
                </a:solidFill>
              </a:defRPr>
            </a:pPr>
            <a:r>
              <a:t>Arthritis has the highest condition count; Asthma has the lowest among the six listed conditions.</a:t>
            </a:r>
          </a:p>
          <a:p>
            <a:pPr>
              <a:spcAft>
                <a:spcPts val="1100"/>
              </a:spcAft>
              <a:defRPr sz="1650">
                <a:solidFill>
                  <a:srgbClr val="2D373E"/>
                </a:solidFill>
              </a:defRPr>
            </a:pPr>
            <a:r>
              <a:t>Elective, Urgent and Emergency admissions are relatively balanced.</a:t>
            </a:r>
          </a:p>
          <a:p>
            <a:pPr>
              <a:spcAft>
                <a:spcPts val="1100"/>
              </a:spcAft>
              <a:defRPr sz="1650">
                <a:solidFill>
                  <a:srgbClr val="2D373E"/>
                </a:solidFill>
              </a:defRPr>
            </a:pPr>
            <a:r>
              <a:t>Dashboard screenshots show an almost equal gender split.</a:t>
            </a:r>
          </a:p>
          <a:p>
            <a:pPr>
              <a:spcAft>
                <a:spcPts val="1100"/>
              </a:spcAft>
              <a:defRPr sz="1650">
                <a:solidFill>
                  <a:srgbClr val="2D373E"/>
                </a:solidFill>
              </a:defRPr>
            </a:pPr>
            <a:r>
              <a:t>Data is complete, but duplicates and the negative billing value should be reviewed.</a:t>
            </a:r>
          </a:p>
          <a:p>
            <a:pPr>
              <a:spcAft>
                <a:spcPts val="1100"/>
              </a:spcAft>
              <a:defRPr sz="1650">
                <a:solidFill>
                  <a:srgbClr val="2D373E"/>
                </a:solidFill>
              </a:defRPr>
            </a:pPr>
            <a:r>
              <a:t>Combining Python EDA with BI dashboards gives both analytical depth and business-friendly communication.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4"/>
                </a:solidFill>
              </a:defRPr>
            </a:pPr>
            <a:r>
              <a:t>Recommended Analytics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A8B52"/>
                </a:solidFill>
              </a:defRPr>
            </a:pPr>
            <a:r>
              <a:t>01</a:t>
            </a:r>
          </a:p>
          <a:p>
            <a:pPr algn="ctr">
              <a:defRPr sz="1600" b="1">
                <a:solidFill>
                  <a:srgbClr val="132234"/>
                </a:solidFill>
              </a:defRPr>
            </a:pPr>
            <a:r>
              <a:t>Clean</a:t>
            </a:r>
          </a:p>
          <a:p>
            <a:pPr algn="ctr">
              <a:defRPr sz="1050">
                <a:solidFill>
                  <a:srgbClr val="2D373E"/>
                </a:solidFill>
              </a:defRPr>
            </a:pPr>
            <a:r>
              <a:t>Missing values • duplicates • anomalies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A8B52"/>
                </a:solidFill>
              </a:defRPr>
            </a:pPr>
            <a:r>
              <a:t>02</a:t>
            </a:r>
          </a:p>
          <a:p>
            <a:pPr algn="ctr">
              <a:defRPr sz="1600" b="1">
                <a:solidFill>
                  <a:srgbClr val="132234"/>
                </a:solidFill>
              </a:defRPr>
            </a:pPr>
            <a:r>
              <a:t>Explore</a:t>
            </a:r>
          </a:p>
          <a:p>
            <a:pPr algn="ctr">
              <a:defRPr sz="1050">
                <a:solidFill>
                  <a:srgbClr val="2D373E"/>
                </a:solidFill>
              </a:defRPr>
            </a:pPr>
            <a:r>
              <a:t>Distributions • groups • trends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A8B52"/>
                </a:solidFill>
              </a:defRPr>
            </a:pPr>
            <a:r>
              <a:t>03</a:t>
            </a:r>
          </a:p>
          <a:p>
            <a:pPr algn="ctr">
              <a:defRPr sz="1600" b="1">
                <a:solidFill>
                  <a:srgbClr val="132234"/>
                </a:solidFill>
              </a:defRPr>
            </a:pPr>
            <a:r>
              <a:t>Calculate</a:t>
            </a:r>
          </a:p>
          <a:p>
            <a:pPr algn="ctr">
              <a:defRPr sz="1050">
                <a:solidFill>
                  <a:srgbClr val="2D373E"/>
                </a:solidFill>
              </a:defRPr>
            </a:pPr>
            <a:r>
              <a:t>KPIs • counts • averages • comparisons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A8B52"/>
                </a:solidFill>
              </a:defRPr>
            </a:pPr>
            <a:r>
              <a:t>04</a:t>
            </a:r>
          </a:p>
          <a:p>
            <a:pPr algn="ctr">
              <a:defRPr sz="1600" b="1">
                <a:solidFill>
                  <a:srgbClr val="132234"/>
                </a:solidFill>
              </a:defRPr>
            </a:pPr>
            <a:r>
              <a:t>Visualize</a:t>
            </a:r>
          </a:p>
          <a:p>
            <a:pPr algn="ctr">
              <a:defRPr sz="1050">
                <a:solidFill>
                  <a:srgbClr val="2D373E"/>
                </a:solidFill>
              </a:defRPr>
            </a:pPr>
            <a:r>
              <a:t>Excel • Power BI • Tableau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A8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A8B52"/>
                </a:solidFill>
              </a:defRPr>
            </a:pPr>
            <a:r>
              <a:t>05</a:t>
            </a:r>
          </a:p>
          <a:p>
            <a:pPr algn="ctr">
              <a:defRPr sz="1600" b="1">
                <a:solidFill>
                  <a:srgbClr val="132234"/>
                </a:solidFill>
              </a:defRPr>
            </a:pPr>
            <a:r>
              <a:t>Interpret</a:t>
            </a:r>
          </a:p>
          <a:p>
            <a:pPr algn="ctr">
              <a:defRPr sz="1050">
                <a:solidFill>
                  <a:srgbClr val="2D373E"/>
                </a:solidFill>
              </a:defRPr>
            </a:pPr>
            <a:r>
              <a:t>Insights • actions •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A8B52"/>
                </a:solidFill>
              </a:defRPr>
            </a:pPr>
            <a:r>
              <a:t>HEALTHCARE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9784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DCE8E2"/>
                </a:solidFill>
              </a:defRPr>
            </a:pPr>
            <a:r>
              <a:t>Python EDA establishes data quality and analytical understanding.</a:t>
            </a:r>
          </a:p>
          <a:p>
            <a:pPr algn="ctr">
              <a:spcAft>
                <a:spcPts val="1200"/>
              </a:spcAft>
              <a:defRPr sz="1800">
                <a:solidFill>
                  <a:srgbClr val="DCE8E2"/>
                </a:solidFill>
              </a:defRPr>
            </a:pPr>
            <a:r>
              <a:t>Excel supports fast Pivot-based reporting.</a:t>
            </a:r>
          </a:p>
          <a:p>
            <a:pPr algn="ctr">
              <a:spcAft>
                <a:spcPts val="1200"/>
              </a:spcAft>
              <a:defRPr sz="1800">
                <a:solidFill>
                  <a:srgbClr val="DCE8E2"/>
                </a:solidFill>
              </a:defRPr>
            </a:pPr>
            <a:r>
              <a:t>Power BI and Tableau turn the analysis into interactive dashboards.</a:t>
            </a:r>
          </a:p>
          <a:p>
            <a:pPr algn="ctr">
              <a:spcAft>
                <a:spcPts val="1200"/>
              </a:spcAft>
              <a:defRPr sz="1800">
                <a:solidFill>
                  <a:srgbClr val="DCE8E2"/>
                </a:solidFill>
              </a:defRPr>
            </a:pPr>
            <a:r>
              <a:t>The final healthcare dashboard should be validated against the underlying data and filter context.</a:t>
            </a:r>
          </a:p>
          <a:p>
            <a:pPr algn="ctr">
              <a:spcAft>
                <a:spcPts val="1200"/>
              </a:spcAft>
              <a:defRPr sz="1800">
                <a:solidFill>
                  <a:srgbClr val="DCE8E2"/>
                </a:solidFill>
              </a:defRPr>
            </a:pPr>
            <a:r>
              <a:t>Together, these tools create a complete analytics workflow from data to insight.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643</Words>
  <Application>Microsoft Office PowerPoint</Application>
  <PresentationFormat>Widescreen</PresentationFormat>
  <Paragraphs>133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 Latitude 5480</cp:lastModifiedBy>
  <cp:revision>7</cp:revision>
  <dcterms:created xsi:type="dcterms:W3CDTF">2013-01-27T09:14:16Z</dcterms:created>
  <dcterms:modified xsi:type="dcterms:W3CDTF">2026-09-22T14:23:48Z</dcterms:modified>
  <cp:category/>
</cp:coreProperties>
</file>