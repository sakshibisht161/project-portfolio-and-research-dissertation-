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4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1B5E20"/>
                </a:solidFill>
              </a:defRPr>
            </a:pPr>
            <a:r>
              <a:t>PIZZA SALES</a:t>
            </a:r>
          </a:p>
          <a:p>
            <a:pPr>
              <a:defRPr sz="3000" b="1">
                <a:solidFill>
                  <a:srgbClr val="263238"/>
                </a:solidFill>
              </a:defRPr>
            </a:pPr>
            <a:r>
              <a:t>DATA ANALYTICS PROJECT</a:t>
            </a:r>
          </a:p>
          <a:p>
            <a:pPr>
              <a:defRPr sz="1800">
                <a:solidFill>
                  <a:srgbClr val="F9A825"/>
                </a:solidFill>
              </a:defRPr>
            </a:pPr>
            <a:r>
              <a:t>EDA  •  Excel  •  Power BI  •  Tableau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22860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4041648"/>
            <a:ext cx="2066543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RECORDS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48,620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3931920"/>
            <a:ext cx="22860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38728" y="4041648"/>
            <a:ext cx="2066543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REVENUE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817.86K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31920"/>
            <a:ext cx="22860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53328" y="4041648"/>
            <a:ext cx="2066543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ORDERS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21,350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931920"/>
            <a:ext cx="228600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67928" y="4041648"/>
            <a:ext cx="2066543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PIZZA NAMES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Presentation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05840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Project background and objectives</a:t>
            </a:r>
          </a:p>
          <a:p>
            <a:pPr>
              <a:spcAft>
                <a:spcPts val="9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Dataset structure and data quality</a:t>
            </a:r>
          </a:p>
          <a:p>
            <a:pPr>
              <a:spcAft>
                <a:spcPts val="9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Exploratory Data Analysis (EDA)</a:t>
            </a:r>
          </a:p>
          <a:p>
            <a:pPr>
              <a:spcAft>
                <a:spcPts val="9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Excel dashboard and findings</a:t>
            </a:r>
          </a:p>
          <a:p>
            <a:pPr>
              <a:spcAft>
                <a:spcPts val="9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Power BI dashboard and findings</a:t>
            </a:r>
          </a:p>
          <a:p>
            <a:pPr>
              <a:spcAft>
                <a:spcPts val="9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Tableau dashboard and findings</a:t>
            </a:r>
          </a:p>
          <a:p>
            <a:pPr>
              <a:spcAft>
                <a:spcPts val="9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Cross-platform comparison</a:t>
            </a:r>
          </a:p>
          <a:p>
            <a:pPr>
              <a:spcAft>
                <a:spcPts val="900"/>
              </a:spcAft>
              <a:defRPr sz="20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Key insights, recommendations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Dataset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33172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344168"/>
            <a:ext cx="2112263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ROWS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48,620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234440"/>
            <a:ext cx="233172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0128" y="1344168"/>
            <a:ext cx="2112263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COLUMNS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234440"/>
            <a:ext cx="233172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24728" y="1344168"/>
            <a:ext cx="2112263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PIZZA NAMES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34440"/>
            <a:ext cx="233172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7" y="1344168"/>
            <a:ext cx="2112263" cy="8778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DUPLICATES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dirty="0"/>
              <a:t>Important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484632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</a:t>
            </a:r>
            <a:r>
              <a:rPr b="1" dirty="0" err="1"/>
              <a:t>order_id</a:t>
            </a:r>
            <a:r>
              <a:rPr b="1" dirty="0"/>
              <a:t> — order-level analysis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quantity — pizzas sold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</a:t>
            </a:r>
            <a:r>
              <a:rPr b="1" dirty="0" err="1"/>
              <a:t>order_date</a:t>
            </a:r>
            <a:r>
              <a:rPr b="1" dirty="0"/>
              <a:t> / </a:t>
            </a:r>
            <a:r>
              <a:rPr b="1" dirty="0" err="1"/>
              <a:t>order_time</a:t>
            </a:r>
            <a:r>
              <a:rPr b="1" dirty="0"/>
              <a:t> — time analysis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</a:t>
            </a:r>
            <a:r>
              <a:rPr b="1" dirty="0" err="1"/>
              <a:t>unit_price</a:t>
            </a:r>
            <a:r>
              <a:rPr b="1" dirty="0"/>
              <a:t> / </a:t>
            </a:r>
            <a:r>
              <a:rPr b="1" dirty="0" err="1"/>
              <a:t>total_price</a:t>
            </a:r>
            <a:r>
              <a:rPr b="1" dirty="0"/>
              <a:t> — revenue analysis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</a:t>
            </a:r>
            <a:r>
              <a:rPr b="1" dirty="0" err="1"/>
              <a:t>pizza_size</a:t>
            </a:r>
            <a:r>
              <a:rPr b="1" dirty="0"/>
              <a:t> / </a:t>
            </a:r>
            <a:r>
              <a:rPr b="1" dirty="0" err="1"/>
              <a:t>pizza_category</a:t>
            </a:r>
            <a:r>
              <a:rPr b="1" dirty="0"/>
              <a:t> — segmentation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</a:t>
            </a:r>
            <a:r>
              <a:rPr b="1" dirty="0" err="1"/>
              <a:t>pizza_name</a:t>
            </a:r>
            <a:r>
              <a:rPr b="1" dirty="0"/>
              <a:t> — product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517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t>Data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63240"/>
            <a:ext cx="484632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/>
              <a:t>• No missing values reported in the EDA notebook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/>
              <a:t>• No duplicate rows reported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/>
              <a:t>• order_date converted to datetime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/>
              <a:t>• Hour extracted from order_time for hourly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Exploratory Data Analysis (EDA)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23799"/>
            <a:ext cx="16924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EDA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30075"/>
            <a:ext cx="5029200" cy="214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Load and inspect the dataset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Check shape, data types and descriptive statistics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Validate missing values and duplicates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Create grouped summaries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Analyze category, size, time and product performance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Build visualizations for business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406214"/>
            <a:ext cx="194546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Core EDA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49256"/>
            <a:ext cx="5029200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Monthly Sales Trend — line chart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Orders by Day — bar chart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Orders by Hour — line chart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Revenue by Category — pie chart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Revenue by Pizza Size — bar chart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Top Pizza Products — ranking chart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Correlation Heatmap — numeric relationships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EDA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6600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Orders by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93776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Friday: 8,106 sales-line records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Saturday: 7,355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Thursday: 7,323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Sunday: 5,917 — lowest among the seven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243355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Category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493776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Classic: 14,579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Supreme: 11,777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Veggie: 11,449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Chicken: 10,815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23555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Descriptive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54480"/>
            <a:ext cx="50292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Average quantity: 1.02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Average unit price: 16.49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Average line revenue: 16.82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Quantity ranges from 1 to 4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Unit price ranges from 9.75 to 35.95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709160"/>
            <a:ext cx="498348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4873752"/>
            <a:ext cx="4617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B5E20"/>
                </a:solidFill>
              </a:defRPr>
            </a:pPr>
            <a:r>
              <a:t>EDA establishes a clean, analysis-ready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058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Excel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D8B"/>
                </a:solidFill>
                <a:latin typeface="Aptos"/>
              </a:defRPr>
            </a:pPr>
            <a:r>
              <a:rPr dirty="0"/>
              <a:t>Spreadsheet-based dashboard with slicers and KPI cards</a:t>
            </a:r>
          </a:p>
        </p:txBody>
      </p:sp>
      <p:pic>
        <p:nvPicPr>
          <p:cNvPr id="6" name="Picture 5" descr="Pizza 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694944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234440"/>
            <a:ext cx="22781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Dashboard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3" y="1866887"/>
            <a:ext cx="3749039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Total Revenue, Total Orders and Total Pizza Sold KPIs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Monthly Revenue trend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Orders by Days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Revenue by Pizza Category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Revenue by Pizza Size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Hours by Orders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Top 5 Best Selling Pizzas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Filters for size, category and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D8B"/>
                </a:solidFill>
                <a:latin typeface="Aptos"/>
              </a:defRPr>
            </a:pPr>
            <a:r>
              <a:t>Interactive business intelligence view</a:t>
            </a:r>
          </a:p>
        </p:txBody>
      </p:sp>
      <p:pic>
        <p:nvPicPr>
          <p:cNvPr id="6" name="Picture 5" descr="Pizza power bi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7178040" cy="42836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9560" y="1143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t>Key KPI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54480"/>
            <a:ext cx="15087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19288" y="1664207"/>
            <a:ext cx="1289304" cy="740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ORDERS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21K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55480" y="1554480"/>
            <a:ext cx="15087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65207" y="1664207"/>
            <a:ext cx="1289304" cy="740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REVENUE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817.86K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697480"/>
            <a:ext cx="15087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2807208"/>
            <a:ext cx="1289304" cy="740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PIZZAS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50K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2697480"/>
            <a:ext cx="1508760" cy="9601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65207" y="2807208"/>
            <a:ext cx="1289304" cy="740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AOV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38.31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Tableau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6751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D8B"/>
                </a:solidFill>
                <a:latin typeface="Aptos"/>
              </a:defRPr>
            </a:pPr>
            <a:r>
              <a:t>Visual analytics and comparative storytelling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234440"/>
            <a:ext cx="123277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Key 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691640"/>
            <a:ext cx="338328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Monthly Revenue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Orders by Days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Revenue by Pizza Category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Orders by Revenue / hourly pattern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Top 5 Best Selling Pizzas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Revenue by Pizza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572000"/>
            <a:ext cx="217610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Presentation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983480"/>
            <a:ext cx="338328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Clean visual storytelling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Strong comparative views</a:t>
            </a:r>
          </a:p>
          <a:p>
            <a:pPr>
              <a:spcAft>
                <a:spcPts val="900"/>
              </a:spcAft>
              <a:defRPr sz="14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Suitable for analytical presentations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987B98-76F5-4AF8-858C-DC52A9659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3" y="668369"/>
            <a:ext cx="7582486" cy="4726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Excel vs Power BI vs Tableau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2194560" cy="502920"/>
          </a:xfrm>
          <a:prstGeom prst="rect">
            <a:avLst/>
          </a:prstGeom>
          <a:solidFill>
            <a:srgbClr val="1B5E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4380" y="14173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Area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325880"/>
            <a:ext cx="2468880" cy="502920"/>
          </a:xfrm>
          <a:prstGeom prst="rect">
            <a:avLst/>
          </a:prstGeom>
          <a:solidFill>
            <a:srgbClr val="1B5E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79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Excel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1325880"/>
            <a:ext cx="2468880" cy="502920"/>
          </a:xfrm>
          <a:prstGeom prst="rect">
            <a:avLst/>
          </a:prstGeom>
          <a:solidFill>
            <a:srgbClr val="1B5E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59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Power BI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325880"/>
            <a:ext cx="2468880" cy="502920"/>
          </a:xfrm>
          <a:prstGeom prst="rect">
            <a:avLst/>
          </a:prstGeom>
          <a:solidFill>
            <a:srgbClr val="1B5E2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Tableau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856231"/>
            <a:ext cx="219456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8093" y="1965960"/>
            <a:ext cx="1309974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rPr b="1" dirty="0"/>
              <a:t>Ease for beginners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856231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79" y="1965960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Excellent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856231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59" y="1965960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1856231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1965960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Moderate–High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514600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624328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Interactive filters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2514600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79" y="262432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Strong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9240" y="2514600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59" y="262432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Strong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2514600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2624328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Good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172968"/>
            <a:ext cx="219456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282696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KPI presentation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172968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79" y="3282696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Clear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3172968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94959" y="3282696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Excellent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3172968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0" y="3282696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Clear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3831335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3941063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Business reporting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3831335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926079" y="3941063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Good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3831335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94959" y="3941063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Excellent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3831335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0" y="3941063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Excellent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489704"/>
            <a:ext cx="219456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4599432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Visual storytelling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4489704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26079" y="459943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Good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9240" y="4489704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94959" y="459943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Very Good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4489704"/>
            <a:ext cx="2468880" cy="621792"/>
          </a:xfrm>
          <a:prstGeom prst="rect">
            <a:avLst/>
          </a:prstGeom>
          <a:solidFill>
            <a:srgbClr val="F7FAF7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63840" y="4599432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Excellent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" y="5148071"/>
            <a:ext cx="219456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5257799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Best role in project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5148071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26079" y="5257799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Spreadsheet dashboard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5148071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394959" y="5257799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Primary BI dashboard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18120" y="5148071"/>
            <a:ext cx="246888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2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63840" y="5257799"/>
            <a:ext cx="2377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263238"/>
                </a:solidFill>
              </a:defRPr>
            </a:pPr>
            <a:r>
              <a:t>Visual analytics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97280" y="5897880"/>
            <a:ext cx="9875520" cy="438912"/>
          </a:xfrm>
          <a:prstGeom prst="roundRect">
            <a:avLst/>
          </a:prstGeom>
          <a:solidFill>
            <a:srgbClr val="E8F5E9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34440" y="597103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B5E20"/>
                </a:solidFill>
              </a:defRPr>
            </a:pPr>
            <a:r>
              <a:t>Recommended: present Power BI as the primary business dashboard, supported by EDA, Excel and Tableau.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Total revenue is approximately 817.86K across the project dashboards.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21,350 distinct orders are reported in the Power BI and Tableau dashboards.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Friday is the strongest ordering day; Sunday is the weakest.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Classic is the largest category by sales-line count in the EDA output.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Large (L) pizzas are the dominant revenue-producing size in the supplied dashboard views.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Top product views repeatedly feature Thai Chicken, Barbecue Chicken, California Chicken, Classic Deluxe and Spicy Italian pizzas.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Monthly and hourly views show variation in demand, supporting time-based staffing and promotion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42616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800" dirty="0"/>
              <a:t>Business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249" y="1691640"/>
            <a:ext cx="521208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Plan staffing and preparation around high-demand periods.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Use targeted promotions to improve weaker days such as Sunday.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Feature high-performing pizzas in combos and promotional placements.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Use size-level revenue for inventory and ingredient planning.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Review category and product trends monthly.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143000"/>
            <a:ext cx="37496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Project-quality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52120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Standardize KPI formulas across all tools.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Document whether 'orders' means rows or DISTINCTCOUNT(</a:t>
            </a:r>
            <a:r>
              <a:rPr b="1" dirty="0" err="1"/>
              <a:t>order_id</a:t>
            </a:r>
            <a:r>
              <a:rPr b="1" dirty="0"/>
              <a:t>).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Use SUM(quantity) for Total Pizzas Sold.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Reconcile dashboard values before final presentation.</a:t>
            </a:r>
          </a:p>
          <a:p>
            <a:pPr>
              <a:spcAft>
                <a:spcPts val="900"/>
              </a:spcAft>
              <a:defRPr sz="16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Keep a consistent visual theme across platforms.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KPI Standardization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29862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Recommended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3035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Total Revenue = SUM(</a:t>
            </a:r>
            <a:r>
              <a:rPr b="1" dirty="0" err="1"/>
              <a:t>total_price</a:t>
            </a:r>
            <a:r>
              <a:rPr b="1" dirty="0"/>
              <a:t>)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Total Orders = DISTINCTCOUNT(</a:t>
            </a:r>
            <a:r>
              <a:rPr b="1" dirty="0" err="1"/>
              <a:t>order_id</a:t>
            </a:r>
            <a:r>
              <a:rPr b="1" dirty="0"/>
              <a:t>)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Total Pizzas Sold = SUM(quantity)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Average Order Value = Total Revenue / Total Orders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Average Pizzas per Order = Total Pizzas Sold / Total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20022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B5E20"/>
                </a:solidFill>
              </a:defRPr>
            </a:pPr>
            <a:r>
              <a:rPr sz="2000" dirty="0"/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The supplied screenshots show some different KPI values/labels.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A single dataset should produce consistent metrics when the definitions are the same.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The Tableau screenshot shows a Total Pizzas Sold value that should be validated against the EDA/Excel/Power BI measure.</a:t>
            </a:r>
          </a:p>
          <a:p>
            <a:pPr>
              <a:spcAft>
                <a:spcPts val="900"/>
              </a:spcAft>
              <a:defRPr sz="1500">
                <a:solidFill>
                  <a:srgbClr val="263238"/>
                </a:solidFill>
                <a:latin typeface="Aptos"/>
              </a:defRPr>
            </a:pPr>
            <a:r>
              <a:rPr b="1" dirty="0"/>
              <a:t>• State the exact formula under each KPI in the final project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0584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11.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2468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389888"/>
            <a:ext cx="2249424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EDA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Data understanding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280160"/>
            <a:ext cx="2468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7328" y="1389888"/>
            <a:ext cx="2249424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EXCEL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Spreadsheet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24688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389888"/>
            <a:ext cx="2249424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POWER BI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Business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280160"/>
            <a:ext cx="201168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53728" y="1389888"/>
            <a:ext cx="1792224" cy="9235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07D8B"/>
                </a:solidFill>
              </a:defRPr>
            </a:pPr>
            <a:r>
              <a:t>TABLEAU</a:t>
            </a:r>
          </a:p>
          <a:p>
            <a:pPr algn="ctr">
              <a:defRPr sz="2300" b="1">
                <a:solidFill>
                  <a:srgbClr val="1B5E20"/>
                </a:solidFill>
              </a:defRPr>
            </a:pPr>
            <a:r>
              <a:t>Visual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B5E20"/>
                </a:solidFill>
              </a:defRPr>
            </a:pPr>
            <a:r>
              <a:t>The project demonstrates an end-to-end analytics workflow:</a:t>
            </a:r>
          </a:p>
          <a:p>
            <a:pPr algn="ctr">
              <a:defRPr sz="2000">
                <a:solidFill>
                  <a:srgbClr val="263238"/>
                </a:solidFill>
              </a:defRPr>
            </a:pPr>
            <a:r>
              <a:t>Raw sales data → EDA → KPI development → Dashboarding → Business insights</a:t>
            </a:r>
          </a:p>
          <a:p>
            <a:pPr algn="ctr">
              <a:defRPr sz="1500">
                <a:solidFill>
                  <a:srgbClr val="607D8B"/>
                </a:solidFill>
              </a:defRPr>
            </a:pPr>
            <a:r>
              <a:t>Together, the four components demonstrate technical analysis, visualization and business intelligence skills.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9A825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966</Words>
  <Application>Microsoft Office PowerPoint</Application>
  <PresentationFormat>Widescreen</PresentationFormat>
  <Paragraphs>186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 Latitude 5480</cp:lastModifiedBy>
  <cp:revision>4</cp:revision>
  <dcterms:created xsi:type="dcterms:W3CDTF">2013-01-27T09:14:16Z</dcterms:created>
  <dcterms:modified xsi:type="dcterms:W3CDTF">2026-09-22T14:19:07Z</dcterms:modified>
  <cp:category/>
</cp:coreProperties>
</file>