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bIG/y3NxkfrJHAF9eScT7AATI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73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6565392"/>
            <a:ext cx="12191695" cy="164592"/>
          </a:xfrm>
          <a:prstGeom prst="rect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2436876"/>
            <a:ext cx="10789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SUPPLY CHAIN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BB4E6"/>
                </a:solidFill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2E1F0"/>
                </a:solidFill>
                <a:latin typeface="Calibri"/>
                <a:ea typeface="Calibri"/>
                <a:cs typeface="Calibri"/>
                <a:sym typeface="Calibri"/>
              </a:rPr>
              <a:t>EDA • Excel • Tableau • Power BI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5B9CD"/>
                </a:solidFill>
                <a:latin typeface="Calibri"/>
                <a:ea typeface="Calibri"/>
                <a:cs typeface="Calibri"/>
                <a:sym typeface="Calibri"/>
              </a:rPr>
              <a:t>Integrated Data Analytics &amp; Business Intelligence Project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End-to-end workflow from raw data to interactive dashboards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77240" y="1143000"/>
            <a:ext cx="914400" cy="530352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86968" y="1252728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874519" y="1124712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4892040" y="117043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CDDC"/>
                </a:solidFill>
                <a:latin typeface="Calibri"/>
                <a:ea typeface="Calibri"/>
                <a:cs typeface="Calibri"/>
                <a:sym typeface="Calibri"/>
              </a:rPr>
              <a:t>Scope, objectives and analytical workflow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77240" y="1947672"/>
            <a:ext cx="914400" cy="530352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86968" y="2057400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874519" y="192938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&amp; EDA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892040" y="1975103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CDDC"/>
                </a:solidFill>
                <a:latin typeface="Calibri"/>
                <a:ea typeface="Calibri"/>
                <a:cs typeface="Calibri"/>
                <a:sym typeface="Calibri"/>
              </a:rPr>
              <a:t>Structure, quality checks, statistics and visual analysis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777240" y="2752344"/>
            <a:ext cx="914400" cy="530352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F28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86968" y="2862072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874519" y="2734056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Dashboard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892040" y="2779775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CDDC"/>
                </a:solidFill>
                <a:latin typeface="Calibri"/>
                <a:ea typeface="Calibri"/>
                <a:cs typeface="Calibri"/>
                <a:sym typeface="Calibri"/>
              </a:rPr>
              <a:t>KPI and operational reporting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777240" y="3557016"/>
            <a:ext cx="914400" cy="530352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E6B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86968" y="3666744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874519" y="353872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 Dashboard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4892040" y="3584448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CDDC"/>
                </a:solidFill>
                <a:latin typeface="Calibri"/>
                <a:ea typeface="Calibri"/>
                <a:cs typeface="Calibri"/>
                <a:sym typeface="Calibri"/>
              </a:rPr>
              <a:t>Interactive visual exploration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777240" y="4361688"/>
            <a:ext cx="914400" cy="530352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86968" y="4471416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874519" y="43434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Dashboard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4892040" y="438912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CDDC"/>
                </a:solidFill>
                <a:latin typeface="Calibri"/>
                <a:ea typeface="Calibri"/>
                <a:cs typeface="Calibri"/>
                <a:sym typeface="Calibri"/>
              </a:rPr>
              <a:t>KPI monitoring and business intelligence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777240" y="5166360"/>
            <a:ext cx="914400" cy="530352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86968" y="5276088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874519" y="5148072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Integrated Findings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892040" y="519379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CDDC"/>
                </a:solidFill>
                <a:latin typeface="Calibri"/>
                <a:ea typeface="Calibri"/>
                <a:cs typeface="Calibri"/>
                <a:sym typeface="Calibri"/>
              </a:rPr>
              <a:t>Key observations, limitations and future scope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 the structure and quality of global supply chain shipment data.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shipment patterns across transport modes, product categories, weather and origin ports.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lead time in relation to distance, fuel price index, geopolitical risk and disruptions.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Examine carrier reliability and monthly shipment/disruption trends.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 EDA findings into practical Excel, Tableau and Power BI dashboards.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 a consolidated analytical view for supply-chain monitoring and reporting.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Source: supplied EDA notebook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85800" y="1143000"/>
            <a:ext cx="2377440" cy="12344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95528" y="1252728"/>
            <a:ext cx="2157984" cy="101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TOTAL RECORDS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5,000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3337560" y="1143000"/>
            <a:ext cx="2377440" cy="12344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447288" y="1252728"/>
            <a:ext cx="2157984" cy="101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989320" y="1143000"/>
            <a:ext cx="2377440" cy="12344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F28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099048" y="1252728"/>
            <a:ext cx="2157984" cy="101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8641080" y="1143000"/>
            <a:ext cx="2377440" cy="12344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E6B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750807" y="1252728"/>
            <a:ext cx="2157984" cy="101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822960" y="2788920"/>
            <a:ext cx="103327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product categories: Textiles, Automotive, Perishables, Electronics and Pharmaceuticals.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weather conditions: Clear, Fog, Hurricane, Rain and Storm.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origin ports are represented.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 modes: Air, Rail, Road and Sea.</a:t>
            </a:r>
            <a:endParaRPr/>
          </a:p>
          <a:p>
            <a:pPr indent="-1079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 is converted to datetime for monthly trend analysis.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Variables in the Dataset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822960" y="1188720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987552" y="1252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Shipment_ID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22960" y="1847088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987552" y="1911095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822960" y="2505456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987552" y="2569464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Origin_Port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822960" y="3163824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987552" y="32278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Destination_Port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822960" y="3822191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987552" y="38862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Transport_Mode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22960" y="4480559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987552" y="45445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Product_Category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822960" y="5138928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87552" y="5202936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Distance_km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309360" y="1188720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6473952" y="1252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Weight_MT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309360" y="1847088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6473952" y="1911095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Fuel_Price_Index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309360" y="2505456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6473952" y="2569464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Geopolitical_Risk_Score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309360" y="3163824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473952" y="32278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Weather_Condition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309360" y="3822191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6473952" y="38862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Carrier_Reliability_Score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309360" y="4480559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473952" y="454456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Lead_Time_Days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309360" y="5138928"/>
            <a:ext cx="4754880" cy="47548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473952" y="5202936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Disruption_Occurred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Descriptive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Selected numeric measures from the supplied EDA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85800" y="123444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795528" y="1344168"/>
            <a:ext cx="3163824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7,704.06 km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777240" y="23500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ED2"/>
                </a:solidFill>
                <a:latin typeface="Calibri"/>
                <a:ea typeface="Calibri"/>
                <a:cs typeface="Calibri"/>
                <a:sym typeface="Calibri"/>
              </a:rPr>
              <a:t>500.17 – 14,995.91</a:t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480560" y="123444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4590288" y="1344168"/>
            <a:ext cx="3163824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246.25 MT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4572000" y="23500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ED2"/>
                </a:solidFill>
                <a:latin typeface="Calibri"/>
                <a:ea typeface="Calibri"/>
                <a:cs typeface="Calibri"/>
                <a:sym typeface="Calibri"/>
              </a:rPr>
              <a:t>1.03 – 499.75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275320" y="123444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F28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8385048" y="1344168"/>
            <a:ext cx="3163824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Fuel Price Index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2.85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8366760" y="235000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ED2"/>
                </a:solidFill>
                <a:latin typeface="Calibri"/>
                <a:ea typeface="Calibri"/>
                <a:cs typeface="Calibri"/>
                <a:sym typeface="Calibri"/>
              </a:rPr>
              <a:t>1.20 – 4.50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85800" y="320040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E6B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795528" y="3310128"/>
            <a:ext cx="3163824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Geopolitical Risk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5.08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777240" y="43159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ED2"/>
                </a:solidFill>
                <a:latin typeface="Calibri"/>
                <a:ea typeface="Calibri"/>
                <a:cs typeface="Calibri"/>
                <a:sym typeface="Calibri"/>
              </a:rPr>
              <a:t>0 – 10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480560" y="320040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4590288" y="3310128"/>
            <a:ext cx="3163824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Carrier Reliability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0.754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4572000" y="43159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ED2"/>
                </a:solidFill>
                <a:latin typeface="Calibri"/>
                <a:ea typeface="Calibri"/>
                <a:cs typeface="Calibri"/>
                <a:sym typeface="Calibri"/>
              </a:rPr>
              <a:t>0.50 – 1.00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8275320" y="320040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8385048" y="3310128"/>
            <a:ext cx="3163824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Lead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19.36 days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8366760" y="43159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ABED2"/>
                </a:solidFill>
                <a:latin typeface="Calibri"/>
                <a:ea typeface="Calibri"/>
                <a:cs typeface="Calibri"/>
                <a:sym typeface="Calibri"/>
              </a:rPr>
              <a:t>0.50 – 236.39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1E73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731520" y="1106424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325880" y="1033271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libraries: NumPy, Pandas, Matplotlib and Seaborn.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731520" y="1746504"/>
            <a:ext cx="411480" cy="411480"/>
          </a:xfrm>
          <a:prstGeom prst="ellipse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731520" y="18013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325880" y="172821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Inspect records, shape, data types and descriptive statistics.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731520" y="2441448"/>
            <a:ext cx="411480" cy="411480"/>
          </a:xfrm>
          <a:prstGeom prst="ellipse">
            <a:avLst/>
          </a:prstGeom>
          <a:solidFill>
            <a:srgbClr val="F284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731520" y="2496312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1325880" y="242316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 missing values and duplicate rows.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31520" y="3136392"/>
            <a:ext cx="411480" cy="411480"/>
          </a:xfrm>
          <a:prstGeom prst="ellipse">
            <a:avLst/>
          </a:prstGeom>
          <a:solidFill>
            <a:srgbClr val="E6B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731520" y="319125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1325880" y="3118104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Explore unique values, frequency counts and grouped categories.</a:t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731520" y="3831335"/>
            <a:ext cx="411480" cy="411480"/>
          </a:xfrm>
          <a:prstGeom prst="ellipse">
            <a:avLst/>
          </a:prstGeom>
          <a:solidFill>
            <a:srgbClr val="1E73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731520" y="3886199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1325880" y="381304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distributions and category-based visualizations.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31520" y="4526279"/>
            <a:ext cx="411480" cy="411480"/>
          </a:xfrm>
          <a:prstGeom prst="ellipse">
            <a:avLst/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731520" y="4581143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1325880" y="45079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lead time against distance, fuel price and geopolitical risk.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31520" y="5221224"/>
            <a:ext cx="411480" cy="411480"/>
          </a:xfrm>
          <a:prstGeom prst="ellipse">
            <a:avLst/>
          </a:prstGeom>
          <a:solidFill>
            <a:srgbClr val="F284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731520" y="527608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1325880" y="520293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correlation heatmap and monthly trend analysis.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Visual Analysis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731520" y="1143000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896112" y="1252728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Shipments by Transport Mode</a:t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217920" y="1143000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6382512" y="1252728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Shipments by Product Category</a:t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731520" y="1984248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896112" y="2093976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Condition Distribution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217920" y="1984248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382512" y="2093976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Carrier Reliability by Transport Mode</a:t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31520" y="2825496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896112" y="2935224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Shipment Distance Distribution</a:t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217920" y="2825496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382512" y="2935224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Geopolitical Risk vs Lead Time</a:t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31520" y="3666744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896112" y="3776472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Fuel Price Index vs Lead Time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6217920" y="3666744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6382512" y="3776472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Distance vs Lead Time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731520" y="4507992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896112" y="4617720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Heatmap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217920" y="4507992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6382512" y="4617720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Shipment Trend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31520" y="5349240"/>
            <a:ext cx="4983480" cy="566928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96112" y="5458968"/>
            <a:ext cx="4617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Disruption Trend</a:t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from EDA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731520" y="1143000"/>
            <a:ext cx="2743200" cy="132588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841248" y="1252728"/>
            <a:ext cx="2523744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AVERAGE LEAD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19.36 days</a:t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3703320" y="1143000"/>
            <a:ext cx="2743200" cy="132588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3813048" y="1252728"/>
            <a:ext cx="2523744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MEDIAN LEAD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8.25 days</a:t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675120" y="1143000"/>
            <a:ext cx="2743200" cy="132588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F28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6784848" y="1252728"/>
            <a:ext cx="2523744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MAX LEAD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236.39 days</a:t>
            </a:r>
            <a:endParaRPr/>
          </a:p>
        </p:txBody>
      </p:sp>
      <p:sp>
        <p:nvSpPr>
          <p:cNvPr id="273" name="Google Shape;273;p9"/>
          <p:cNvSpPr txBox="1"/>
          <p:nvPr/>
        </p:nvSpPr>
        <p:spPr>
          <a:xfrm>
            <a:off x="868680" y="2834640"/>
            <a:ext cx="10241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missing values and no duplicate rows were reported.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Busan has the highest origin-port record count in the notebook output: 667.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disruption indicator mean is 0.6126.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gap between mean and median lead time shows substantial variation in lead-time observations.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notebook investigates relationships between lead time and geopolitical risk, fuel price index and distance.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 Dashboard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KPI-driven spreadsheet reporting</a:t>
            </a:r>
            <a:endParaRPr/>
          </a:p>
        </p:txBody>
      </p:sp>
      <p:pic>
        <p:nvPicPr>
          <p:cNvPr descr="Global supply chain risk .png" id="281" name="Google Shape;2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051560"/>
            <a:ext cx="7315200" cy="5166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 txBox="1"/>
          <p:nvPr/>
        </p:nvSpPr>
        <p:spPr>
          <a:xfrm>
            <a:off x="8092440" y="1234440"/>
            <a:ext cx="3429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Shipments: 5,000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Disruptions: 3,063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Lead Time: 19.355386 days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shipment/disruption trends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 mode, product, weather and origin-port views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Fuel Price Index vs Average Lead Time</a:t>
            </a:r>
            <a:endParaRPr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filters are shown in the supplied view</a:t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 Dashboard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Interactive visual exploration</a:t>
            </a:r>
            <a:endParaRPr/>
          </a:p>
        </p:txBody>
      </p:sp>
      <p:pic>
        <p:nvPicPr>
          <p:cNvPr descr="tableau global supply .png"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51560"/>
            <a:ext cx="7726679" cy="53035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8366760" y="1188720"/>
            <a:ext cx="32004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 cards for shipments, disruptions and lead time</a:t>
            </a:r>
            <a:endParaRPr/>
          </a:p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Date/month and transport-mode filters</a:t>
            </a:r>
            <a:endParaRPr/>
          </a:p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shipment trend</a:t>
            </a:r>
            <a:endParaRPr/>
          </a:p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Transport-mode shipment comparison</a:t>
            </a:r>
            <a:endParaRPr/>
          </a:p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category distribution</a:t>
            </a:r>
            <a:endParaRPr/>
          </a:p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and origin-port disruption analysis</a:t>
            </a:r>
            <a:endParaRPr/>
          </a:p>
          <a:p>
            <a:pPr indent="-79375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Fuel Price Index vs Lead Time</a:t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Dashboard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Interactive BI and KPI monitoring</a:t>
            </a:r>
            <a:endParaRPr/>
          </a:p>
        </p:txBody>
      </p:sp>
      <p:pic>
        <p:nvPicPr>
          <p:cNvPr descr="power bi global supply .png" id="299" name="Google Shape;2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51560"/>
            <a:ext cx="781812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 txBox="1"/>
          <p:nvPr/>
        </p:nvSpPr>
        <p:spPr>
          <a:xfrm>
            <a:off x="8412480" y="1143000"/>
            <a:ext cx="315468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747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KPIs: ~5K shipments, ~3K disruptions, 0.61 disruption indicator, 19.36-day average lead time</a:t>
            </a:r>
            <a:endParaRPr/>
          </a:p>
          <a:p>
            <a:pPr indent="-7747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Slicers: Month, Transport Mode, Product Category, Weather Condition</a:t>
            </a:r>
            <a:endParaRPr/>
          </a:p>
          <a:p>
            <a:pPr indent="-7747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shipment/disruption trend</a:t>
            </a:r>
            <a:endParaRPr/>
          </a:p>
          <a:p>
            <a:pPr indent="-7747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 and product analysis</a:t>
            </a:r>
            <a:endParaRPr/>
          </a:p>
          <a:p>
            <a:pPr indent="-7747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and origin-port disruption views</a:t>
            </a:r>
            <a:endParaRPr/>
          </a:p>
          <a:p>
            <a:pPr indent="-7747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Char char="•"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Fuel Price Index + Average Lead Time by month</a:t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Tool-wise Comparison</a:t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594360" y="1234440"/>
            <a:ext cx="2743200" cy="594360"/>
          </a:xfrm>
          <a:prstGeom prst="rect">
            <a:avLst/>
          </a:prstGeom>
          <a:solidFill>
            <a:srgbClr val="1E73BE"/>
          </a:solidFill>
          <a:ln cap="flat" cmpd="sng" w="9525">
            <a:solidFill>
              <a:srgbClr val="081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 txBox="1"/>
          <p:nvPr/>
        </p:nvSpPr>
        <p:spPr>
          <a:xfrm>
            <a:off x="667512" y="1344168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3337560" y="1234440"/>
            <a:ext cx="2331720" cy="594360"/>
          </a:xfrm>
          <a:prstGeom prst="rect">
            <a:avLst/>
          </a:prstGeom>
          <a:solidFill>
            <a:srgbClr val="F28428"/>
          </a:solidFill>
          <a:ln cap="flat" cmpd="sng" w="9525">
            <a:solidFill>
              <a:srgbClr val="081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3410712" y="1344168"/>
            <a:ext cx="2185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</a:t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5669280" y="1234440"/>
            <a:ext cx="2331720" cy="594360"/>
          </a:xfrm>
          <a:prstGeom prst="rect">
            <a:avLst/>
          </a:prstGeom>
          <a:solidFill>
            <a:srgbClr val="009BA0"/>
          </a:solidFill>
          <a:ln cap="flat" cmpd="sng" w="9525">
            <a:solidFill>
              <a:srgbClr val="081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/>
          <p:nvPr/>
        </p:nvSpPr>
        <p:spPr>
          <a:xfrm>
            <a:off x="5742432" y="1344168"/>
            <a:ext cx="2185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</a:t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8001000" y="1234440"/>
            <a:ext cx="2331720" cy="594360"/>
          </a:xfrm>
          <a:prstGeom prst="rect">
            <a:avLst/>
          </a:prstGeom>
          <a:solidFill>
            <a:srgbClr val="E6B437"/>
          </a:solidFill>
          <a:ln cap="flat" cmpd="sng" w="9525">
            <a:solidFill>
              <a:srgbClr val="081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8074152" y="1344168"/>
            <a:ext cx="2185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594360" y="1856232"/>
            <a:ext cx="274320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704088" y="1993392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data exploration</a:t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337560" y="1856232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3447288" y="1993392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spreadsheet reporting</a:t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5669280" y="1856232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5779008" y="1993392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visual exploration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8001000" y="1856232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8110727" y="1993392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94360" y="2843784"/>
            <a:ext cx="274320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704088" y="2980944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3337560" y="2843784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3447288" y="2980944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 + charts</a:t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669280" y="2843784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 txBox="1"/>
          <p:nvPr/>
        </p:nvSpPr>
        <p:spPr>
          <a:xfrm>
            <a:off x="5779008" y="2980944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Filters + charts</a:t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8001000" y="2843784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 txBox="1"/>
          <p:nvPr/>
        </p:nvSpPr>
        <p:spPr>
          <a:xfrm>
            <a:off x="8110727" y="2980944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 + slicers</a:t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594360" y="3831336"/>
            <a:ext cx="274320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704088" y="3968496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workflow</a:t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3337560" y="3831336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3447288" y="3968496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Pivot/filter workflow</a:t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5669280" y="3831336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5779008" y="3968496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8001000" y="3831336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8110727" y="3968496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dashboard</a:t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594360" y="4818888"/>
            <a:ext cx="274320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704088" y="4956048"/>
            <a:ext cx="252374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Relationship analysis</a:t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3337560" y="4818888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 txBox="1"/>
          <p:nvPr/>
        </p:nvSpPr>
        <p:spPr>
          <a:xfrm>
            <a:off x="3447288" y="4956048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reporting</a:t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5669280" y="4818888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5779008" y="4956048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 comparison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8001000" y="4818888"/>
            <a:ext cx="2331720" cy="914400"/>
          </a:xfrm>
          <a:prstGeom prst="rect">
            <a:avLst/>
          </a:prstGeom>
          <a:solidFill>
            <a:srgbClr val="12274B"/>
          </a:solidFill>
          <a:ln cap="flat" cmpd="sng" w="9525">
            <a:solidFill>
              <a:srgbClr val="3750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8110727" y="4956048"/>
            <a:ext cx="2112263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 monitoring</a:t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Integrated Project Workflow</a:t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411480" y="2148840"/>
            <a:ext cx="1645920" cy="1417320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484632" y="2395728"/>
            <a:ext cx="14996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5,000 shipment records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2075688" y="26060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2368296" y="2148840"/>
            <a:ext cx="1645920" cy="1417320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2441448" y="2395728"/>
            <a:ext cx="14996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Clean • inspect • explore</a:t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4032504" y="26060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4325112" y="2148840"/>
            <a:ext cx="1645920" cy="1417320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F28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4398264" y="2395728"/>
            <a:ext cx="14996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EXCEL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Spreadsheet dashboard</a:t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5989320" y="26060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6281928" y="2148840"/>
            <a:ext cx="1645920" cy="1417320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E6B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6355080" y="2395728"/>
            <a:ext cx="14996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Interactive exploration</a:t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7946136" y="26060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8238744" y="2148840"/>
            <a:ext cx="1645920" cy="1417320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 txBox="1"/>
          <p:nvPr/>
        </p:nvSpPr>
        <p:spPr>
          <a:xfrm>
            <a:off x="8311896" y="2395728"/>
            <a:ext cx="14996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BI &amp; KPI monitoring</a:t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9902952" y="2606040"/>
            <a:ext cx="274320" cy="411480"/>
          </a:xfrm>
          <a:prstGeom prst="chevron">
            <a:avLst>
              <a:gd fmla="val 50000" name="adj"/>
            </a:avLst>
          </a:prstGeom>
          <a:solidFill>
            <a:srgbClr val="009B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0195560" y="2148840"/>
            <a:ext cx="1645920" cy="1417320"/>
          </a:xfrm>
          <a:prstGeom prst="roundRect">
            <a:avLst>
              <a:gd fmla="val 16667" name="adj"/>
            </a:avLst>
          </a:prstGeom>
          <a:solidFill>
            <a:srgbClr val="12274B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10268712" y="2395728"/>
            <a:ext cx="14996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Supply-chain reporting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1005840" y="41605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0BEEB"/>
                </a:solidFill>
                <a:latin typeface="Calibri"/>
                <a:ea typeface="Calibri"/>
                <a:cs typeface="Calibri"/>
                <a:sym typeface="Calibri"/>
              </a:rPr>
              <a:t>Data → Analysis → Visualization → Business Reporting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Dashboard Observations</a:t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731520" y="123444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 txBox="1"/>
          <p:nvPr/>
        </p:nvSpPr>
        <p:spPr>
          <a:xfrm>
            <a:off x="841248" y="1344168"/>
            <a:ext cx="1289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382" name="Google Shape;382;p15"/>
          <p:cNvSpPr txBox="1"/>
          <p:nvPr/>
        </p:nvSpPr>
        <p:spPr>
          <a:xfrm>
            <a:off x="2423160" y="121615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5,000 shipments are covered across the project.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6217920" y="123444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6327648" y="1344168"/>
            <a:ext cx="1289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Disruption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Disruption</a:t>
            </a:r>
            <a:endParaRPr/>
          </a:p>
        </p:txBody>
      </p:sp>
      <p:sp>
        <p:nvSpPr>
          <p:cNvPr id="385" name="Google Shape;385;p15"/>
          <p:cNvSpPr txBox="1"/>
          <p:nvPr/>
        </p:nvSpPr>
        <p:spPr>
          <a:xfrm>
            <a:off x="7909560" y="121615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3,063 disruptions are displayed in the supplied dashboard views.</a:t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731520" y="274320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F28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 txBox="1"/>
          <p:nvPr/>
        </p:nvSpPr>
        <p:spPr>
          <a:xfrm>
            <a:off x="841248" y="2852928"/>
            <a:ext cx="1289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Lead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Lead Time</a:t>
            </a:r>
            <a:endParaRPr/>
          </a:p>
        </p:txBody>
      </p:sp>
      <p:sp>
        <p:nvSpPr>
          <p:cNvPr id="388" name="Google Shape;388;p15"/>
          <p:cNvSpPr txBox="1"/>
          <p:nvPr/>
        </p:nvSpPr>
        <p:spPr>
          <a:xfrm>
            <a:off x="2423160" y="272491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lead time is approximately 19.36 days.</a:t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6217920" y="274320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E6B4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6327648" y="2852928"/>
            <a:ext cx="1289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7909560" y="272491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Air, Rail, Road and Sea are compared by volume and lead time.</a:t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731520" y="425196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1E73B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841248" y="4361688"/>
            <a:ext cx="1289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Risk Factors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Factors</a:t>
            </a:r>
            <a:endParaRPr/>
          </a:p>
        </p:txBody>
      </p:sp>
      <p:sp>
        <p:nvSpPr>
          <p:cNvPr id="394" name="Google Shape;394;p15"/>
          <p:cNvSpPr txBox="1"/>
          <p:nvPr/>
        </p:nvSpPr>
        <p:spPr>
          <a:xfrm>
            <a:off x="2423160" y="423367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Weather, geopolitical risk, fuel price and distance are included.</a:t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6217920" y="4251960"/>
            <a:ext cx="1508760" cy="777240"/>
          </a:xfrm>
          <a:prstGeom prst="roundRect">
            <a:avLst>
              <a:gd fmla="val 16667" name="adj"/>
            </a:avLst>
          </a:prstGeom>
          <a:solidFill>
            <a:srgbClr val="112246"/>
          </a:solidFill>
          <a:ln cap="flat" cmpd="sng" w="9525">
            <a:solidFill>
              <a:srgbClr val="009B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6327648" y="4361688"/>
            <a:ext cx="1289304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7909560" y="423367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trends support time-based shipment and disruption monitoring.</a:t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Interpretation Notes</a:t>
            </a:r>
            <a:endParaRPr/>
          </a:p>
        </p:txBody>
      </p:sp>
      <p:sp>
        <p:nvSpPr>
          <p:cNvPr id="405" name="Google Shape;405;p16"/>
          <p:cNvSpPr txBox="1"/>
          <p:nvPr/>
        </p:nvSpPr>
        <p:spPr>
          <a:xfrm>
            <a:off x="777240" y="1234440"/>
            <a:ext cx="1060704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screenshots do not expose every underlying formula, calculated field or filter configuration.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disruption-rate definition should be documented explicitly; the EDA binary field mean is 0.6126 while dashboards may show 0.61.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lead time should be interpreted alongside the median because lead-time observations vary substantially.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Correlation or visual association should not be treated as proof of causation.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values are sometimes rounded (for example, 5K and 3K).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supplied project package did not include a separate raw CSV/ZIP file; EDA findings are based on the notebook outputs.</a:t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drill-through pages for origin port, destination port, transport mode and product category.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conditional formatting for high lead-time and high-risk shipments.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dedicated risk segmentation view combining geopolitical risk, carrier reliability, weather and disruption.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monthly/year-over-year comparisons when additional years become available.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anomaly detection for unusually high lead-time shipments.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Consider predictive modeling after defining a target and validating data quality.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 dashboard measures and formulas for reproducibility.</a:t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"/>
          <p:cNvSpPr/>
          <p:nvPr/>
        </p:nvSpPr>
        <p:spPr>
          <a:xfrm>
            <a:off x="-15089" y="0"/>
            <a:ext cx="12191695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 txBox="1"/>
          <p:nvPr/>
        </p:nvSpPr>
        <p:spPr>
          <a:xfrm>
            <a:off x="228922" y="1447011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421" name="Google Shape;421;p18"/>
          <p:cNvSpPr txBox="1"/>
          <p:nvPr/>
        </p:nvSpPr>
        <p:spPr>
          <a:xfrm>
            <a:off x="1142677" y="2964001"/>
            <a:ext cx="9876165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project demonstrates an end-to-end analytics workflow—from Python EDA to Excel,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 and Power BI dashboards.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Together, the views cover shipment volume, disruptions, transport modes, products, weather, ports,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carrier reliability, fuel price, geopolitical risk and lead time.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BB9E6"/>
                </a:solidFill>
                <a:latin typeface="Calibri"/>
                <a:ea typeface="Calibri"/>
                <a:cs typeface="Calibri"/>
                <a:sym typeface="Calibri"/>
              </a:rPr>
              <a:t>This creates a consistent framework for descriptive analysis and visual reporting.</a:t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"/>
          <p:cNvSpPr/>
          <p:nvPr/>
        </p:nvSpPr>
        <p:spPr>
          <a:xfrm>
            <a:off x="95050" y="-135800"/>
            <a:ext cx="12191700" cy="6858000"/>
          </a:xfrm>
          <a:prstGeom prst="rect">
            <a:avLst/>
          </a:prstGeom>
          <a:solidFill>
            <a:srgbClr val="0814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 txBox="1"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BB9E6"/>
                </a:solidFill>
                <a:latin typeface="Calibri"/>
                <a:ea typeface="Calibri"/>
                <a:cs typeface="Calibri"/>
                <a:sym typeface="Calibri"/>
              </a:rPr>
              <a:t>Global Supply Chain Risk Analysis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ED2E6"/>
                </a:solidFill>
                <a:latin typeface="Calibri"/>
                <a:ea typeface="Calibri"/>
                <a:cs typeface="Calibri"/>
                <a:sym typeface="Calibri"/>
              </a:rPr>
              <a:t>EDA • Excel • Tableau • Power BI</a:t>
            </a:r>
            <a:endParaRPr/>
          </a:p>
        </p:txBody>
      </p:sp>
      <p:sp>
        <p:nvSpPr>
          <p:cNvPr id="429" name="Google Shape;429;p1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3C5A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